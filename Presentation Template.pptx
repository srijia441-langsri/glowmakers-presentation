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 id="2147483653" r:id="rId5"/>
    <p:sldMasterId id="2147483654"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Caveat"/>
      <p:regular r:id="rId16"/>
      <p:bold r:id="rId17"/>
    </p:embeddedFont>
    <p:embeddedFont>
      <p:font typeface="Amatic SC"/>
      <p:regular r:id="rId18"/>
      <p:bold r:id="rId19"/>
    </p:embeddedFont>
    <p:embeddedFont>
      <p:font typeface="Noto Sans Symbols"/>
      <p:regular r:id="rId20"/>
      <p:bold r:id="rId21"/>
    </p:embeddedFont>
    <p:embeddedFont>
      <p:font typeface="Barlow"/>
      <p:regular r:id="rId22"/>
      <p:bold r:id="rId23"/>
      <p:italic r:id="rId24"/>
      <p:boldItalic r:id="rId25"/>
    </p:embeddedFont>
    <p:embeddedFont>
      <p:font typeface="Aboreto"/>
      <p:regular r:id="rId26"/>
    </p:embeddedFont>
    <p:embeddedFont>
      <p:font typeface="Comfortaa"/>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A0BE62-64C4-43CF-99FB-B881132447CC}">
  <a:tblStyle styleId="{8FA0BE62-64C4-43CF-99FB-B881132447C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NotoSansSymbols-regular.fntdata"/><Relationship Id="rId22" Type="http://schemas.openxmlformats.org/officeDocument/2006/relationships/font" Target="fonts/Barlow-regular.fntdata"/><Relationship Id="rId21" Type="http://schemas.openxmlformats.org/officeDocument/2006/relationships/font" Target="fonts/NotoSansSymbols-bold.fntdata"/><Relationship Id="rId24" Type="http://schemas.openxmlformats.org/officeDocument/2006/relationships/font" Target="fonts/Barlow-italic.fntdata"/><Relationship Id="rId23" Type="http://schemas.openxmlformats.org/officeDocument/2006/relationships/font" Target="fonts/Barlow-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Aboreto-regular.fntdata"/><Relationship Id="rId25" Type="http://schemas.openxmlformats.org/officeDocument/2006/relationships/font" Target="fonts/Barlow-boldItalic.fntdata"/><Relationship Id="rId28" Type="http://schemas.openxmlformats.org/officeDocument/2006/relationships/font" Target="fonts/Comfortaa-bold.fntdata"/><Relationship Id="rId27" Type="http://schemas.openxmlformats.org/officeDocument/2006/relationships/font" Target="fonts/Comfortaa-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Caveat-bold.fntdata"/><Relationship Id="rId16" Type="http://schemas.openxmlformats.org/officeDocument/2006/relationships/font" Target="fonts/Caveat-regular.fntdata"/><Relationship Id="rId19" Type="http://schemas.openxmlformats.org/officeDocument/2006/relationships/font" Target="fonts/AmaticSC-bold.fntdata"/><Relationship Id="rId18" Type="http://schemas.openxmlformats.org/officeDocument/2006/relationships/font" Target="fonts/AmaticSC-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Respected judges/faculty and my fellow classmates, good morning/afternoon. Today, I am excited to present </a:t>
            </a:r>
            <a:r>
              <a:rPr b="1" lang="en-US">
                <a:solidFill>
                  <a:schemeClr val="dk1"/>
                </a:solidFill>
              </a:rPr>
              <a:t>Glow Maker</a:t>
            </a:r>
            <a:r>
              <a:rPr lang="en-US">
                <a:solidFill>
                  <a:schemeClr val="dk1"/>
                </a:solidFill>
              </a:rPr>
              <a:t>, a D2C skincare brand designed to make effective skincare simple, affordable, and accessible.</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Operating in the rapidly growing Indian D2C beauty market, Glow Maker solves the everyday skincare confusion for Gen Z and young millennials through our signature 3-step daily routine.</a:t>
            </a:r>
            <a:endParaRPr/>
          </a:p>
        </p:txBody>
      </p:sp>
      <p:sp>
        <p:nvSpPr>
          <p:cNvPr id="48" name="Google Shape;4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a:solidFill>
                  <a:schemeClr val="dk1"/>
                </a:solidFill>
              </a:rPr>
              <a:t>Next, I would like to introduce our founding team behind Glow Maker and our leadership structure: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Rijia Sultana (CEO):</a:t>
            </a:r>
            <a:r>
              <a:rPr lang="en-US">
                <a:solidFill>
                  <a:schemeClr val="dk1"/>
                </a:solidFill>
              </a:rPr>
              <a:t> Leads our overarching business vision, strategic direction, and external partnerships.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Samarto Dey (CFO):</a:t>
            </a:r>
            <a:r>
              <a:rPr lang="en-US">
                <a:solidFill>
                  <a:schemeClr val="dk1"/>
                </a:solidFill>
              </a:rPr>
              <a:t> Manages our unit economics, pricing strategy, product margins, and cash flow planning.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Souradeep Maji (CMO):</a:t>
            </a:r>
            <a:r>
              <a:rPr lang="en-US">
                <a:solidFill>
                  <a:schemeClr val="dk1"/>
                </a:solidFill>
              </a:rPr>
              <a:t> Heads brand marketing, customer acquisition, and influencer marketing campaigns.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Joyanto Sinha (COO):</a:t>
            </a:r>
            <a:r>
              <a:rPr lang="en-US">
                <a:solidFill>
                  <a:schemeClr val="dk1"/>
                </a:solidFill>
              </a:rPr>
              <a:t> Handles supply chain operations, inventory tracking, packaging, and fulfillment logistics.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Anirjit Banerjee (PDM):</a:t>
            </a:r>
            <a:r>
              <a:rPr lang="en-US">
                <a:solidFill>
                  <a:schemeClr val="dk1"/>
                </a:solidFill>
              </a:rPr>
              <a:t> Directs product research, formulation safety testing, and manufacturing coordination.</a:t>
            </a:r>
            <a:endParaRPr/>
          </a:p>
        </p:txBody>
      </p:sp>
      <p:sp>
        <p:nvSpPr>
          <p:cNvPr id="55" name="Google Shape;5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5f2ce5ab0519da8c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h5f2ce5ab0519da8c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5f2ce5ab0519da8c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5f2ce5ab0519da8c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5f2ce5ab0519da8c_1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5f2ce5ab0519da8c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0" name="Shape 20"/>
        <p:cNvGrpSpPr/>
        <p:nvPr/>
      </p:nvGrpSpPr>
      <p:grpSpPr>
        <a:xfrm>
          <a:off x="0" y="0"/>
          <a:ext cx="0" cy="0"/>
          <a:chOff x="0" y="0"/>
          <a:chExt cx="0" cy="0"/>
        </a:xfrm>
      </p:grpSpPr>
      <p:sp>
        <p:nvSpPr>
          <p:cNvPr id="21" name="Google Shape;21;p2"/>
          <p:cNvSpPr txBox="1"/>
          <p:nvPr>
            <p:ph type="title"/>
          </p:nvPr>
        </p:nvSpPr>
        <p:spPr>
          <a:xfrm>
            <a:off x="2189160" y="693720"/>
            <a:ext cx="4765320" cy="10584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_1" type="blank">
  <p:cSld name="BLANK">
    <p:spTree>
      <p:nvGrpSpPr>
        <p:cNvPr id="31" name="Shape 3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type="blank">
  <p:cSld name="BLANK">
    <p:spTree>
      <p:nvGrpSpPr>
        <p:cNvPr id="42" name="Shape 4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type="title">
  <p:cSld name="TITLE">
    <p:spTree>
      <p:nvGrpSpPr>
        <p:cNvPr id="43" name="Shape 43"/>
        <p:cNvGrpSpPr/>
        <p:nvPr/>
      </p:nvGrpSpPr>
      <p:grpSpPr>
        <a:xfrm>
          <a:off x="0" y="0"/>
          <a:ext cx="0" cy="0"/>
          <a:chOff x="0" y="0"/>
          <a:chExt cx="0" cy="0"/>
        </a:xfrm>
      </p:grpSpPr>
      <p:sp>
        <p:nvSpPr>
          <p:cNvPr id="44" name="Google Shape;44;p7"/>
          <p:cNvSpPr txBox="1"/>
          <p:nvPr>
            <p:ph type="title"/>
          </p:nvPr>
        </p:nvSpPr>
        <p:spPr>
          <a:xfrm>
            <a:off x="2189160" y="693720"/>
            <a:ext cx="4765320" cy="10584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3220" l="2466" r="2006" t="2635"/>
          <a:stretch/>
        </p:blipFill>
        <p:spPr>
          <a:xfrm>
            <a:off x="0" y="0"/>
            <a:ext cx="9143640" cy="5143320"/>
          </a:xfrm>
          <a:prstGeom prst="rect">
            <a:avLst/>
          </a:prstGeom>
          <a:noFill/>
          <a:ln>
            <a:noFill/>
          </a:ln>
        </p:spPr>
      </p:pic>
      <p:sp>
        <p:nvSpPr>
          <p:cNvPr id="7" name="Google Shape;7;p1"/>
          <p:cNvSpPr txBox="1"/>
          <p:nvPr>
            <p:ph type="title"/>
          </p:nvPr>
        </p:nvSpPr>
        <p:spPr>
          <a:xfrm>
            <a:off x="1053000" y="1450800"/>
            <a:ext cx="7037640" cy="17251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8" name="Google Shape;8;p1"/>
          <p:cNvGrpSpPr/>
          <p:nvPr/>
        </p:nvGrpSpPr>
        <p:grpSpPr>
          <a:xfrm>
            <a:off x="7581240" y="-974160"/>
            <a:ext cx="2007000" cy="1915920"/>
            <a:chOff x="7581240" y="-974160"/>
            <a:chExt cx="2007000" cy="1915920"/>
          </a:xfrm>
        </p:grpSpPr>
        <p:pic>
          <p:nvPicPr>
            <p:cNvPr id="9" name="Google Shape;9;p1"/>
            <p:cNvPicPr preferRelativeResize="0"/>
            <p:nvPr/>
          </p:nvPicPr>
          <p:blipFill rotWithShape="1">
            <a:blip r:embed="rId2">
              <a:alphaModFix/>
            </a:blip>
            <a:srcRect b="0" l="0" r="0" t="0"/>
            <a:stretch/>
          </p:blipFill>
          <p:spPr>
            <a:xfrm rot="10800000">
              <a:off x="7581240" y="-974160"/>
              <a:ext cx="1562760" cy="1562760"/>
            </a:xfrm>
            <a:prstGeom prst="rect">
              <a:avLst/>
            </a:prstGeom>
            <a:noFill/>
            <a:ln>
              <a:noFill/>
            </a:ln>
          </p:spPr>
        </p:pic>
        <p:sp>
          <p:nvSpPr>
            <p:cNvPr id="10" name="Google Shape;10;p1"/>
            <p:cNvSpPr/>
            <p:nvPr/>
          </p:nvSpPr>
          <p:spPr>
            <a:xfrm>
              <a:off x="8271720" y="137160"/>
              <a:ext cx="804600" cy="804600"/>
            </a:xfrm>
            <a:prstGeom prst="ellipse">
              <a:avLst/>
            </a:prstGeom>
            <a:solidFill>
              <a:srgbClr val="FDFEFF">
                <a:alpha val="18824"/>
              </a:srgbClr>
            </a:solid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11" name="Google Shape;11;p1"/>
            <p:cNvCxnSpPr/>
            <p:nvPr/>
          </p:nvCxnSpPr>
          <p:spPr>
            <a:xfrm flipH="1" rot="10800000">
              <a:off x="8161560" y="136800"/>
              <a:ext cx="1426680" cy="674280"/>
            </a:xfrm>
            <a:prstGeom prst="straightConnector1">
              <a:avLst/>
            </a:prstGeom>
            <a:noFill/>
            <a:ln cap="flat" cmpd="sng" w="9525">
              <a:solidFill>
                <a:srgbClr val="FDFEFF"/>
              </a:solidFill>
              <a:prstDash val="solid"/>
              <a:round/>
              <a:headEnd len="sm" w="sm" type="none"/>
              <a:tailEnd len="sm" w="sm" type="none"/>
            </a:ln>
          </p:spPr>
        </p:cxnSp>
      </p:grpSp>
      <p:grpSp>
        <p:nvGrpSpPr>
          <p:cNvPr id="12" name="Google Shape;12;p1"/>
          <p:cNvGrpSpPr/>
          <p:nvPr/>
        </p:nvGrpSpPr>
        <p:grpSpPr>
          <a:xfrm>
            <a:off x="33480" y="2452680"/>
            <a:ext cx="1869480" cy="2637720"/>
            <a:chOff x="33480" y="2452680"/>
            <a:chExt cx="1869480" cy="2637720"/>
          </a:xfrm>
        </p:grpSpPr>
        <p:pic>
          <p:nvPicPr>
            <p:cNvPr id="13" name="Google Shape;13;p1"/>
            <p:cNvPicPr preferRelativeResize="0"/>
            <p:nvPr/>
          </p:nvPicPr>
          <p:blipFill rotWithShape="1">
            <a:blip r:embed="rId2">
              <a:alphaModFix/>
            </a:blip>
            <a:srcRect b="0" l="0" r="0" t="0"/>
            <a:stretch/>
          </p:blipFill>
          <p:spPr>
            <a:xfrm>
              <a:off x="33840" y="3023280"/>
              <a:ext cx="1776240" cy="1776240"/>
            </a:xfrm>
            <a:prstGeom prst="rect">
              <a:avLst/>
            </a:prstGeom>
            <a:noFill/>
            <a:ln>
              <a:noFill/>
            </a:ln>
          </p:spPr>
        </p:pic>
        <p:pic>
          <p:nvPicPr>
            <p:cNvPr id="14" name="Google Shape;14;p1"/>
            <p:cNvPicPr preferRelativeResize="0"/>
            <p:nvPr/>
          </p:nvPicPr>
          <p:blipFill rotWithShape="1">
            <a:blip r:embed="rId3">
              <a:alphaModFix/>
            </a:blip>
            <a:srcRect b="0" l="0" r="0" t="0"/>
            <a:stretch/>
          </p:blipFill>
          <p:spPr>
            <a:xfrm>
              <a:off x="1019160" y="4206600"/>
              <a:ext cx="883800" cy="883800"/>
            </a:xfrm>
            <a:prstGeom prst="rect">
              <a:avLst/>
            </a:prstGeom>
            <a:noFill/>
            <a:ln>
              <a:noFill/>
            </a:ln>
          </p:spPr>
        </p:pic>
        <p:grpSp>
          <p:nvGrpSpPr>
            <p:cNvPr id="15" name="Google Shape;15;p1"/>
            <p:cNvGrpSpPr/>
            <p:nvPr/>
          </p:nvGrpSpPr>
          <p:grpSpPr>
            <a:xfrm>
              <a:off x="33480" y="2452680"/>
              <a:ext cx="847800" cy="1561320"/>
              <a:chOff x="33480" y="2452680"/>
              <a:chExt cx="847800" cy="1561320"/>
            </a:xfrm>
          </p:grpSpPr>
          <p:sp>
            <p:nvSpPr>
              <p:cNvPr id="16" name="Google Shape;16;p1"/>
              <p:cNvSpPr/>
              <p:nvPr/>
            </p:nvSpPr>
            <p:spPr>
              <a:xfrm>
                <a:off x="87480" y="2860920"/>
                <a:ext cx="793800" cy="793800"/>
              </a:xfrm>
              <a:prstGeom prst="ellipse">
                <a:avLst/>
              </a:prstGeom>
              <a:no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 name="Google Shape;17;p1"/>
              <p:cNvSpPr/>
              <p:nvPr/>
            </p:nvSpPr>
            <p:spPr>
              <a:xfrm>
                <a:off x="228960" y="2860920"/>
                <a:ext cx="571320" cy="571320"/>
              </a:xfrm>
              <a:prstGeom prst="ellipse">
                <a:avLst/>
              </a:prstGeom>
              <a:solidFill>
                <a:srgbClr val="FDFEFF">
                  <a:alpha val="18824"/>
                </a:srgbClr>
              </a:solid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18" name="Google Shape;18;p1"/>
              <p:cNvCxnSpPr/>
              <p:nvPr/>
            </p:nvCxnSpPr>
            <p:spPr>
              <a:xfrm flipH="1" rot="10800000">
                <a:off x="33480" y="2452680"/>
                <a:ext cx="831240" cy="1561320"/>
              </a:xfrm>
              <a:prstGeom prst="straightConnector1">
                <a:avLst/>
              </a:prstGeom>
              <a:noFill/>
              <a:ln cap="flat" cmpd="sng" w="9525">
                <a:solidFill>
                  <a:srgbClr val="FDFEFF"/>
                </a:solidFill>
                <a:prstDash val="solid"/>
                <a:round/>
                <a:headEnd len="sm" w="sm" type="none"/>
                <a:tailEnd len="sm" w="sm" type="none"/>
              </a:ln>
            </p:spPr>
          </p:cxnSp>
        </p:grpSp>
      </p:grpSp>
      <p:sp>
        <p:nvSpPr>
          <p:cNvPr id="19" name="Google Shape;19;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pic>
        <p:nvPicPr>
          <p:cNvPr id="24" name="Google Shape;24;p3"/>
          <p:cNvPicPr preferRelativeResize="0"/>
          <p:nvPr/>
        </p:nvPicPr>
        <p:blipFill rotWithShape="1">
          <a:blip r:embed="rId1">
            <a:alphaModFix/>
          </a:blip>
          <a:srcRect b="12832" l="9635" r="10395" t="8374"/>
          <a:stretch/>
        </p:blipFill>
        <p:spPr>
          <a:xfrm>
            <a:off x="0" y="0"/>
            <a:ext cx="9143640" cy="5143320"/>
          </a:xfrm>
          <a:prstGeom prst="rect">
            <a:avLst/>
          </a:prstGeom>
          <a:noFill/>
          <a:ln>
            <a:noFill/>
          </a:ln>
        </p:spPr>
      </p:pic>
      <p:sp>
        <p:nvSpPr>
          <p:cNvPr id="25" name="Google Shape;25;p3"/>
          <p:cNvSpPr txBox="1"/>
          <p:nvPr>
            <p:ph type="title"/>
          </p:nvPr>
        </p:nvSpPr>
        <p:spPr>
          <a:xfrm>
            <a:off x="713160" y="444960"/>
            <a:ext cx="463572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6" name="Google Shape;26;p3"/>
          <p:cNvSpPr txBox="1"/>
          <p:nvPr>
            <p:ph idx="1" type="body"/>
          </p:nvPr>
        </p:nvSpPr>
        <p:spPr>
          <a:xfrm>
            <a:off x="713160" y="1357200"/>
            <a:ext cx="7717320" cy="22957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27" name="Google Shape;27;p3"/>
          <p:cNvGrpSpPr/>
          <p:nvPr/>
        </p:nvGrpSpPr>
        <p:grpSpPr>
          <a:xfrm>
            <a:off x="2689200" y="3681000"/>
            <a:ext cx="2226240" cy="1846080"/>
            <a:chOff x="2689200" y="3681000"/>
            <a:chExt cx="2226240" cy="1846080"/>
          </a:xfrm>
        </p:grpSpPr>
        <p:pic>
          <p:nvPicPr>
            <p:cNvPr id="28" name="Google Shape;28;p3"/>
            <p:cNvPicPr preferRelativeResize="0"/>
            <p:nvPr/>
          </p:nvPicPr>
          <p:blipFill rotWithShape="1">
            <a:blip r:embed="rId2">
              <a:alphaModFix/>
            </a:blip>
            <a:srcRect b="0" l="0" r="0" t="0"/>
            <a:stretch/>
          </p:blipFill>
          <p:spPr>
            <a:xfrm>
              <a:off x="2775960" y="3681000"/>
              <a:ext cx="1776240" cy="1776240"/>
            </a:xfrm>
            <a:prstGeom prst="rect">
              <a:avLst/>
            </a:prstGeom>
            <a:noFill/>
            <a:ln>
              <a:noFill/>
            </a:ln>
          </p:spPr>
        </p:pic>
        <p:cxnSp>
          <p:nvCxnSpPr>
            <p:cNvPr id="29" name="Google Shape;29;p3"/>
            <p:cNvCxnSpPr/>
            <p:nvPr/>
          </p:nvCxnSpPr>
          <p:spPr>
            <a:xfrm rot="10800000">
              <a:off x="2689200" y="3739320"/>
              <a:ext cx="2226240" cy="1787760"/>
            </a:xfrm>
            <a:prstGeom prst="straightConnector1">
              <a:avLst/>
            </a:prstGeom>
            <a:noFill/>
            <a:ln cap="flat" cmpd="sng" w="9525">
              <a:solidFill>
                <a:srgbClr val="FDFEFF"/>
              </a:solidFill>
              <a:prstDash val="solid"/>
              <a:round/>
              <a:headEnd len="sm" w="sm" type="none"/>
              <a:tailEnd len="sm" w="sm" type="none"/>
            </a:ln>
          </p:spPr>
        </p:cxnSp>
        <p:sp>
          <p:nvSpPr>
            <p:cNvPr id="30" name="Google Shape;30;p3"/>
            <p:cNvSpPr/>
            <p:nvPr/>
          </p:nvSpPr>
          <p:spPr>
            <a:xfrm flipH="1">
              <a:off x="3962880" y="4636440"/>
              <a:ext cx="820800" cy="820800"/>
            </a:xfrm>
            <a:prstGeom prst="ellipse">
              <a:avLst/>
            </a:prstGeom>
            <a:solidFill>
              <a:srgbClr val="FDFEFF">
                <a:alpha val="18824"/>
              </a:srgbClr>
            </a:solid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2" name="Shape 32"/>
        <p:cNvGrpSpPr/>
        <p:nvPr/>
      </p:nvGrpSpPr>
      <p:grpSpPr>
        <a:xfrm>
          <a:off x="0" y="0"/>
          <a:ext cx="0" cy="0"/>
          <a:chOff x="0" y="0"/>
          <a:chExt cx="0" cy="0"/>
        </a:xfrm>
      </p:grpSpPr>
      <p:pic>
        <p:nvPicPr>
          <p:cNvPr id="33" name="Google Shape;33;p5"/>
          <p:cNvPicPr preferRelativeResize="0"/>
          <p:nvPr/>
        </p:nvPicPr>
        <p:blipFill rotWithShape="1">
          <a:blip r:embed="rId1">
            <a:alphaModFix/>
          </a:blip>
          <a:srcRect b="3220" l="2466" r="2006" t="2635"/>
          <a:stretch/>
        </p:blipFill>
        <p:spPr>
          <a:xfrm>
            <a:off x="0" y="0"/>
            <a:ext cx="9143640" cy="5143320"/>
          </a:xfrm>
          <a:prstGeom prst="rect">
            <a:avLst/>
          </a:prstGeom>
          <a:noFill/>
          <a:ln>
            <a:noFill/>
          </a:ln>
        </p:spPr>
      </p:pic>
      <p:grpSp>
        <p:nvGrpSpPr>
          <p:cNvPr id="34" name="Google Shape;34;p5"/>
          <p:cNvGrpSpPr/>
          <p:nvPr/>
        </p:nvGrpSpPr>
        <p:grpSpPr>
          <a:xfrm>
            <a:off x="-614880" y="2786040"/>
            <a:ext cx="2014920" cy="2170080"/>
            <a:chOff x="-614880" y="2786040"/>
            <a:chExt cx="2014920" cy="2170080"/>
          </a:xfrm>
        </p:grpSpPr>
        <p:pic>
          <p:nvPicPr>
            <p:cNvPr id="35" name="Google Shape;35;p5"/>
            <p:cNvPicPr preferRelativeResize="0"/>
            <p:nvPr/>
          </p:nvPicPr>
          <p:blipFill rotWithShape="1">
            <a:blip r:embed="rId2">
              <a:alphaModFix/>
            </a:blip>
            <a:srcRect b="0" l="0" r="0" t="0"/>
            <a:stretch/>
          </p:blipFill>
          <p:spPr>
            <a:xfrm>
              <a:off x="152280" y="3709080"/>
              <a:ext cx="1247040" cy="1247040"/>
            </a:xfrm>
            <a:prstGeom prst="rect">
              <a:avLst/>
            </a:prstGeom>
            <a:noFill/>
            <a:ln>
              <a:noFill/>
            </a:ln>
          </p:spPr>
        </p:pic>
        <p:sp>
          <p:nvSpPr>
            <p:cNvPr id="36" name="Google Shape;36;p5"/>
            <p:cNvSpPr/>
            <p:nvPr/>
          </p:nvSpPr>
          <p:spPr>
            <a:xfrm>
              <a:off x="-614880" y="2895480"/>
              <a:ext cx="1505520" cy="1505520"/>
            </a:xfrm>
            <a:prstGeom prst="ellipse">
              <a:avLst/>
            </a:prstGeom>
            <a:solidFill>
              <a:srgbClr val="FDFEFF">
                <a:alpha val="18824"/>
              </a:srgbClr>
            </a:solid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37" name="Google Shape;37;p5"/>
            <p:cNvCxnSpPr/>
            <p:nvPr/>
          </p:nvCxnSpPr>
          <p:spPr>
            <a:xfrm>
              <a:off x="357840" y="2786040"/>
              <a:ext cx="1042200" cy="1067400"/>
            </a:xfrm>
            <a:prstGeom prst="straightConnector1">
              <a:avLst/>
            </a:prstGeom>
            <a:noFill/>
            <a:ln cap="flat" cmpd="sng" w="9525">
              <a:solidFill>
                <a:srgbClr val="FDFEFF"/>
              </a:solidFill>
              <a:prstDash val="solid"/>
              <a:round/>
              <a:headEnd len="sm" w="sm" type="none"/>
              <a:tailEnd len="sm" w="sm" type="none"/>
            </a:ln>
          </p:spPr>
        </p:cxnSp>
      </p:grpSp>
      <p:sp>
        <p:nvSpPr>
          <p:cNvPr id="38" name="Google Shape;38;p5"/>
          <p:cNvSpPr txBox="1"/>
          <p:nvPr>
            <p:ph type="title"/>
          </p:nvPr>
        </p:nvSpPr>
        <p:spPr>
          <a:xfrm>
            <a:off x="2189160" y="693720"/>
            <a:ext cx="4765320" cy="1058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 name="Google Shape;39;p5"/>
          <p:cNvSpPr/>
          <p:nvPr/>
        </p:nvSpPr>
        <p:spPr>
          <a:xfrm>
            <a:off x="2189520" y="3576240"/>
            <a:ext cx="4765320" cy="520200"/>
          </a:xfrm>
          <a:prstGeom prst="rect">
            <a:avLst/>
          </a:prstGeom>
          <a:solidFill>
            <a:srgbClr val="FDFEFF">
              <a:alpha val="7059"/>
            </a:srgbClr>
          </a:solid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chemeClr val="accent2"/>
                </a:solidFill>
                <a:latin typeface="Barlow"/>
                <a:ea typeface="Barlow"/>
                <a:cs typeface="Barlow"/>
                <a:sym typeface="Barlow"/>
              </a:rPr>
              <a:t>CREDITS:</a:t>
            </a:r>
            <a:r>
              <a:rPr b="0" i="0" lang="en-US" sz="1000" u="none" cap="none" strike="noStrike">
                <a:solidFill>
                  <a:schemeClr val="accent2"/>
                </a:solidFill>
                <a:latin typeface="Barlow"/>
                <a:ea typeface="Barlow"/>
                <a:cs typeface="Barlow"/>
                <a:sym typeface="Barlow"/>
              </a:rPr>
              <a:t> This presentation template was created by </a:t>
            </a:r>
            <a:r>
              <a:rPr b="1" i="0" lang="en-US" sz="1000" u="sng" cap="none" strike="noStrike">
                <a:solidFill>
                  <a:schemeClr val="hlink"/>
                </a:solidFill>
                <a:latin typeface="Barlow"/>
                <a:ea typeface="Barlow"/>
                <a:cs typeface="Barlow"/>
                <a:sym typeface="Barlow"/>
                <a:hlinkClick r:id="rId3"/>
              </a:rPr>
              <a:t>Slidesgo</a:t>
            </a:r>
            <a:r>
              <a:rPr b="0" i="0" lang="en-US" sz="1000" u="none" cap="none" strike="noStrike">
                <a:solidFill>
                  <a:schemeClr val="accent2"/>
                </a:solidFill>
                <a:latin typeface="Barlow"/>
                <a:ea typeface="Barlow"/>
                <a:cs typeface="Barlow"/>
                <a:sym typeface="Barlow"/>
              </a:rPr>
              <a:t>, and includes icons, infographics &amp; images by </a:t>
            </a:r>
            <a:r>
              <a:rPr b="1" i="0" lang="en-US" sz="1000" u="sng" cap="none" strike="noStrike">
                <a:solidFill>
                  <a:schemeClr val="hlink"/>
                </a:solidFill>
                <a:latin typeface="Barlow"/>
                <a:ea typeface="Barlow"/>
                <a:cs typeface="Barlow"/>
                <a:sym typeface="Barlow"/>
                <a:hlinkClick r:id="rId4"/>
              </a:rPr>
              <a:t>Freepik</a:t>
            </a:r>
            <a:r>
              <a:rPr b="0" i="0" lang="en-US" sz="1000" u="sng" cap="none" strike="noStrike">
                <a:solidFill>
                  <a:schemeClr val="accent2"/>
                </a:solidFill>
                <a:latin typeface="Barlow"/>
                <a:ea typeface="Barlow"/>
                <a:cs typeface="Barlow"/>
                <a:sym typeface="Barlow"/>
              </a:rPr>
              <a:t> </a:t>
            </a:r>
            <a:endParaRPr b="0" i="0" sz="1000" u="none" cap="none" strike="noStrike">
              <a:solidFill>
                <a:srgbClr val="000000"/>
              </a:solidFill>
              <a:latin typeface="Noto Sans Symbols"/>
              <a:ea typeface="Noto Sans Symbols"/>
              <a:cs typeface="Noto Sans Symbols"/>
              <a:sym typeface="Noto Sans Symbols"/>
            </a:endParaRPr>
          </a:p>
        </p:txBody>
      </p:sp>
      <p:sp>
        <p:nvSpPr>
          <p:cNvPr id="40" name="Google Shape;40;p5"/>
          <p:cNvSpPr/>
          <p:nvPr/>
        </p:nvSpPr>
        <p:spPr>
          <a:xfrm>
            <a:off x="8430840" y="274320"/>
            <a:ext cx="1193400" cy="1193400"/>
          </a:xfrm>
          <a:prstGeom prst="ellipse">
            <a:avLst/>
          </a:prstGeom>
          <a:noFill/>
          <a:ln cap="flat" cmpd="sng" w="9525">
            <a:solidFill>
              <a:srgbClr val="FDFE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1" name="Google Shape;41;p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50" r:id="rId5"/>
    <p:sldLayoutId id="2147483651"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cxnSp>
        <p:nvCxnSpPr>
          <p:cNvPr id="50" name="Google Shape;50;p8"/>
          <p:cNvCxnSpPr/>
          <p:nvPr/>
        </p:nvCxnSpPr>
        <p:spPr>
          <a:xfrm flipH="1" rot="10800000">
            <a:off x="5448600" y="3371760"/>
            <a:ext cx="1426680" cy="674280"/>
          </a:xfrm>
          <a:prstGeom prst="straightConnector1">
            <a:avLst/>
          </a:prstGeom>
          <a:noFill/>
          <a:ln cap="flat" cmpd="sng" w="9525">
            <a:solidFill>
              <a:srgbClr val="FDFEFF"/>
            </a:solidFill>
            <a:prstDash val="solid"/>
            <a:round/>
            <a:headEnd len="sm" w="sm" type="none"/>
            <a:tailEnd len="sm" w="sm" type="none"/>
          </a:ln>
        </p:spPr>
      </p:cxnSp>
      <p:sp>
        <p:nvSpPr>
          <p:cNvPr id="51" name="Google Shape;51;p8"/>
          <p:cNvSpPr/>
          <p:nvPr/>
        </p:nvSpPr>
        <p:spPr>
          <a:xfrm>
            <a:off x="1057325" y="1447926"/>
            <a:ext cx="7038600" cy="19239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lang="en-US" sz="6000">
                <a:solidFill>
                  <a:srgbClr val="FDFEFF"/>
                </a:solidFill>
                <a:latin typeface="Aboreto"/>
                <a:ea typeface="Aboreto"/>
                <a:cs typeface="Aboreto"/>
                <a:sym typeface="Aboreto"/>
              </a:rPr>
              <a:t>Welcome </a:t>
            </a:r>
            <a:endParaRPr sz="6000">
              <a:solidFill>
                <a:srgbClr val="FDFEFF"/>
              </a:solidFill>
              <a:latin typeface="Aboreto"/>
              <a:ea typeface="Aboreto"/>
              <a:cs typeface="Aboreto"/>
              <a:sym typeface="Aboreto"/>
            </a:endParaRPr>
          </a:p>
          <a:p>
            <a:pPr indent="0" lvl="0" marL="0" marR="0" rtl="0" algn="l">
              <a:lnSpc>
                <a:spcPct val="100000"/>
              </a:lnSpc>
              <a:spcBef>
                <a:spcPts val="0"/>
              </a:spcBef>
              <a:spcAft>
                <a:spcPts val="0"/>
              </a:spcAft>
              <a:buNone/>
            </a:pPr>
            <a:r>
              <a:rPr lang="en-US" sz="6000">
                <a:solidFill>
                  <a:srgbClr val="FDFEFF"/>
                </a:solidFill>
                <a:latin typeface="Aboreto"/>
                <a:ea typeface="Aboreto"/>
                <a:cs typeface="Aboreto"/>
                <a:sym typeface="Aboreto"/>
              </a:rPr>
              <a:t>              to</a:t>
            </a:r>
            <a:endParaRPr sz="6000">
              <a:solidFill>
                <a:srgbClr val="FDFEFF"/>
              </a:solidFill>
              <a:latin typeface="Aboreto"/>
              <a:ea typeface="Aboreto"/>
              <a:cs typeface="Aboreto"/>
              <a:sym typeface="Aboreto"/>
            </a:endParaRPr>
          </a:p>
          <a:p>
            <a:pPr indent="0" lvl="0" marL="0" marR="0" rtl="0" algn="l">
              <a:lnSpc>
                <a:spcPct val="100000"/>
              </a:lnSpc>
              <a:spcBef>
                <a:spcPts val="0"/>
              </a:spcBef>
              <a:spcAft>
                <a:spcPts val="0"/>
              </a:spcAft>
              <a:buNone/>
            </a:pPr>
            <a:r>
              <a:rPr lang="en-US" sz="6000">
                <a:solidFill>
                  <a:srgbClr val="FDFEFF"/>
                </a:solidFill>
                <a:latin typeface="Aboreto"/>
                <a:ea typeface="Aboreto"/>
                <a:cs typeface="Aboreto"/>
                <a:sym typeface="Aboreto"/>
              </a:rPr>
              <a:t>       glow maker</a:t>
            </a:r>
            <a:endParaRPr sz="6000">
              <a:solidFill>
                <a:srgbClr val="FDFEFF"/>
              </a:solidFill>
              <a:latin typeface="Aboreto"/>
              <a:ea typeface="Aboreto"/>
              <a:cs typeface="Aboreto"/>
              <a:sym typeface="Aboreto"/>
            </a:endParaRPr>
          </a:p>
        </p:txBody>
      </p:sp>
      <p:sp>
        <p:nvSpPr>
          <p:cNvPr id="52" name="Google Shape;52;p8"/>
          <p:cNvSpPr/>
          <p:nvPr/>
        </p:nvSpPr>
        <p:spPr>
          <a:xfrm>
            <a:off x="6086520" y="3781440"/>
            <a:ext cx="2018880" cy="1066320"/>
          </a:xfrm>
          <a:prstGeom prst="rect">
            <a:avLst/>
          </a:prstGeom>
          <a:noFill/>
          <a:ln>
            <a:noFill/>
          </a:ln>
        </p:spPr>
        <p:txBody>
          <a:bodyPr anchorCtr="0" anchor="t" bIns="45700" lIns="91425" spcFirstLastPara="1" rIns="91425" wrap="square" tIns="45700">
            <a:noAutofit/>
          </a:bodyPr>
          <a:lstStyle/>
          <a:p>
            <a:pPr indent="0" lvl="0" marL="0" marR="0" rtl="0" algn="r">
              <a:lnSpc>
                <a:spcPct val="140001"/>
              </a:lnSpc>
              <a:spcBef>
                <a:spcPts val="0"/>
              </a:spcBef>
              <a:spcAft>
                <a:spcPts val="0"/>
              </a:spcAft>
              <a:buNone/>
            </a:pPr>
            <a:r>
              <a:rPr lang="en-US" sz="1480">
                <a:solidFill>
                  <a:srgbClr val="FDFEFF"/>
                </a:solidFill>
                <a:latin typeface="Barlow"/>
                <a:ea typeface="Barlow"/>
                <a:cs typeface="Barlow"/>
                <a:sym typeface="Barlow"/>
              </a:rPr>
              <a:t>A Way to Beauty.. </a:t>
            </a:r>
            <a:endParaRPr b="0" i="0" sz="148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9"/>
          <p:cNvSpPr/>
          <p:nvPr/>
        </p:nvSpPr>
        <p:spPr>
          <a:xfrm>
            <a:off x="476400" y="500074"/>
            <a:ext cx="8191200" cy="6657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lang="en-US" sz="2340">
                <a:solidFill>
                  <a:srgbClr val="263857"/>
                </a:solidFill>
                <a:latin typeface="Aboreto"/>
                <a:ea typeface="Aboreto"/>
                <a:cs typeface="Aboreto"/>
                <a:sym typeface="Aboreto"/>
              </a:rPr>
              <a:t>glow makerz</a:t>
            </a:r>
            <a:endParaRPr b="0" i="0" sz="2340" u="none" cap="none" strike="noStrike">
              <a:solidFill>
                <a:srgbClr val="000000"/>
              </a:solidFill>
              <a:latin typeface="Noto Sans Symbols"/>
              <a:ea typeface="Noto Sans Symbols"/>
              <a:cs typeface="Noto Sans Symbols"/>
              <a:sym typeface="Noto Sans Symbols"/>
            </a:endParaRPr>
          </a:p>
        </p:txBody>
      </p:sp>
      <p:sp>
        <p:nvSpPr>
          <p:cNvPr id="58" name="Google Shape;58;p9"/>
          <p:cNvSpPr/>
          <p:nvPr/>
        </p:nvSpPr>
        <p:spPr>
          <a:xfrm>
            <a:off x="476293" y="1238400"/>
            <a:ext cx="8191200" cy="1218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i="0" sz="1600" u="none" cap="none" strike="noStrike">
              <a:solidFill>
                <a:srgbClr val="000000"/>
              </a:solidFill>
              <a:latin typeface="Noto Sans Symbols"/>
              <a:ea typeface="Noto Sans Symbols"/>
              <a:cs typeface="Noto Sans Symbols"/>
              <a:sym typeface="Noto Sans Symbols"/>
            </a:endParaRPr>
          </a:p>
        </p:txBody>
      </p:sp>
      <p:graphicFrame>
        <p:nvGraphicFramePr>
          <p:cNvPr id="59" name="Google Shape;59;p9"/>
          <p:cNvGraphicFramePr/>
          <p:nvPr/>
        </p:nvGraphicFramePr>
        <p:xfrm>
          <a:off x="1000888" y="1760275"/>
          <a:ext cx="3000000" cy="3000000"/>
        </p:xfrm>
        <a:graphic>
          <a:graphicData uri="http://schemas.openxmlformats.org/drawingml/2006/table">
            <a:tbl>
              <a:tblPr>
                <a:noFill/>
                <a:tableStyleId>{8FA0BE62-64C4-43CF-99FB-B881132447CC}</a:tableStyleId>
              </a:tblPr>
              <a:tblGrid>
                <a:gridCol w="1351000"/>
                <a:gridCol w="1447800"/>
                <a:gridCol w="1447800"/>
                <a:gridCol w="1447800"/>
                <a:gridCol w="1447800"/>
              </a:tblGrid>
              <a:tr h="432500">
                <a:tc>
                  <a:txBody>
                    <a:bodyPr/>
                    <a:lstStyle/>
                    <a:p>
                      <a:pPr indent="0" lvl="0" marL="0" rtl="0" algn="l">
                        <a:spcBef>
                          <a:spcPts val="0"/>
                        </a:spcBef>
                        <a:spcAft>
                          <a:spcPts val="0"/>
                        </a:spcAft>
                        <a:buNone/>
                      </a:pPr>
                      <a:r>
                        <a:rPr b="1" lang="en-US">
                          <a:latin typeface="Caveat"/>
                          <a:ea typeface="Caveat"/>
                          <a:cs typeface="Caveat"/>
                          <a:sym typeface="Caveat"/>
                        </a:rPr>
                        <a:t>C.E.O</a:t>
                      </a:r>
                      <a:endParaRPr b="1">
                        <a:latin typeface="Caveat"/>
                        <a:ea typeface="Caveat"/>
                        <a:cs typeface="Caveat"/>
                        <a:sym typeface="Caveat"/>
                      </a:endParaRPr>
                    </a:p>
                  </a:txBody>
                  <a:tcPr marT="91425" marB="91425" marR="91425" marL="91425"/>
                </a:tc>
                <a:tc>
                  <a:txBody>
                    <a:bodyPr/>
                    <a:lstStyle/>
                    <a:p>
                      <a:pPr indent="0" lvl="0" marL="0" rtl="0" algn="l">
                        <a:spcBef>
                          <a:spcPts val="0"/>
                        </a:spcBef>
                        <a:spcAft>
                          <a:spcPts val="0"/>
                        </a:spcAft>
                        <a:buNone/>
                      </a:pPr>
                      <a:r>
                        <a:rPr b="1" lang="en-US">
                          <a:latin typeface="Caveat"/>
                          <a:ea typeface="Caveat"/>
                          <a:cs typeface="Caveat"/>
                          <a:sym typeface="Caveat"/>
                        </a:rPr>
                        <a:t>C.F.O</a:t>
                      </a:r>
                      <a:endParaRPr b="1">
                        <a:latin typeface="Caveat"/>
                        <a:ea typeface="Caveat"/>
                        <a:cs typeface="Caveat"/>
                        <a:sym typeface="Caveat"/>
                      </a:endParaRPr>
                    </a:p>
                  </a:txBody>
                  <a:tcPr marT="91425" marB="91425" marR="91425" marL="91425"/>
                </a:tc>
                <a:tc>
                  <a:txBody>
                    <a:bodyPr/>
                    <a:lstStyle/>
                    <a:p>
                      <a:pPr indent="0" lvl="0" marL="0" rtl="0" algn="l">
                        <a:spcBef>
                          <a:spcPts val="0"/>
                        </a:spcBef>
                        <a:spcAft>
                          <a:spcPts val="0"/>
                        </a:spcAft>
                        <a:buNone/>
                      </a:pPr>
                      <a:r>
                        <a:rPr b="1" lang="en-US">
                          <a:latin typeface="Caveat"/>
                          <a:ea typeface="Caveat"/>
                          <a:cs typeface="Caveat"/>
                          <a:sym typeface="Caveat"/>
                        </a:rPr>
                        <a:t>C.M.O</a:t>
                      </a:r>
                      <a:endParaRPr b="1">
                        <a:latin typeface="Caveat"/>
                        <a:ea typeface="Caveat"/>
                        <a:cs typeface="Caveat"/>
                        <a:sym typeface="Caveat"/>
                      </a:endParaRPr>
                    </a:p>
                  </a:txBody>
                  <a:tcPr marT="91425" marB="91425" marR="91425" marL="91425"/>
                </a:tc>
                <a:tc>
                  <a:txBody>
                    <a:bodyPr/>
                    <a:lstStyle/>
                    <a:p>
                      <a:pPr indent="0" lvl="0" marL="0" rtl="0" algn="l">
                        <a:spcBef>
                          <a:spcPts val="0"/>
                        </a:spcBef>
                        <a:spcAft>
                          <a:spcPts val="0"/>
                        </a:spcAft>
                        <a:buNone/>
                      </a:pPr>
                      <a:r>
                        <a:rPr b="1" lang="en-US">
                          <a:latin typeface="Caveat"/>
                          <a:ea typeface="Caveat"/>
                          <a:cs typeface="Caveat"/>
                          <a:sym typeface="Caveat"/>
                        </a:rPr>
                        <a:t>C.O.O</a:t>
                      </a:r>
                      <a:endParaRPr b="1">
                        <a:latin typeface="Caveat"/>
                        <a:ea typeface="Caveat"/>
                        <a:cs typeface="Caveat"/>
                        <a:sym typeface="Caveat"/>
                      </a:endParaRPr>
                    </a:p>
                  </a:txBody>
                  <a:tcPr marT="91425" marB="91425" marR="91425" marL="91425"/>
                </a:tc>
                <a:tc>
                  <a:txBody>
                    <a:bodyPr/>
                    <a:lstStyle/>
                    <a:p>
                      <a:pPr indent="0" lvl="0" marL="0" rtl="0" algn="l">
                        <a:spcBef>
                          <a:spcPts val="0"/>
                        </a:spcBef>
                        <a:spcAft>
                          <a:spcPts val="0"/>
                        </a:spcAft>
                        <a:buNone/>
                      </a:pPr>
                      <a:r>
                        <a:rPr b="1" lang="en-US">
                          <a:latin typeface="Caveat"/>
                          <a:ea typeface="Caveat"/>
                          <a:cs typeface="Caveat"/>
                          <a:sym typeface="Caveat"/>
                        </a:rPr>
                        <a:t>P.D.M</a:t>
                      </a:r>
                      <a:endParaRPr b="1">
                        <a:latin typeface="Caveat"/>
                        <a:ea typeface="Caveat"/>
                        <a:cs typeface="Caveat"/>
                        <a:sym typeface="Caveat"/>
                      </a:endParaRPr>
                    </a:p>
                  </a:txBody>
                  <a:tcPr marT="91425" marB="91425" marR="91425" marL="91425"/>
                </a:tc>
              </a:tr>
              <a:tr h="381000">
                <a:tc>
                  <a:txBody>
                    <a:bodyPr/>
                    <a:lstStyle/>
                    <a:p>
                      <a:pPr indent="0" lvl="0" marL="0" rtl="0" algn="l">
                        <a:spcBef>
                          <a:spcPts val="0"/>
                        </a:spcBef>
                        <a:spcAft>
                          <a:spcPts val="0"/>
                        </a:spcAft>
                        <a:buNone/>
                      </a:pPr>
                      <a:r>
                        <a:rPr lang="en-US">
                          <a:latin typeface="Courier New"/>
                          <a:ea typeface="Courier New"/>
                          <a:cs typeface="Courier New"/>
                          <a:sym typeface="Courier New"/>
                        </a:rPr>
                        <a:t>Rijia</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Sultana</a:t>
                      </a:r>
                      <a:endParaRPr>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US">
                          <a:latin typeface="Courier New"/>
                          <a:ea typeface="Courier New"/>
                          <a:cs typeface="Courier New"/>
                          <a:sym typeface="Courier New"/>
                        </a:rPr>
                        <a:t>Aryan </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Paul</a:t>
                      </a:r>
                      <a:endParaRPr>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US">
                          <a:latin typeface="Courier New"/>
                          <a:ea typeface="Courier New"/>
                          <a:cs typeface="Courier New"/>
                          <a:sym typeface="Courier New"/>
                        </a:rPr>
                        <a:t>Souradeep</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Maji</a:t>
                      </a:r>
                      <a:endParaRPr>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US">
                          <a:latin typeface="Courier New"/>
                          <a:ea typeface="Courier New"/>
                          <a:cs typeface="Courier New"/>
                          <a:sym typeface="Courier New"/>
                        </a:rPr>
                        <a:t>Joyanto </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Sinha</a:t>
                      </a:r>
                      <a:endParaRPr>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US">
                          <a:latin typeface="Courier New"/>
                          <a:ea typeface="Courier New"/>
                          <a:cs typeface="Courier New"/>
                          <a:sym typeface="Courier New"/>
                        </a:rPr>
                        <a:t>Vishal</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Chauhan</a:t>
                      </a:r>
                      <a:endParaRPr>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0"/>
          <p:cNvSpPr txBox="1"/>
          <p:nvPr/>
        </p:nvSpPr>
        <p:spPr>
          <a:xfrm>
            <a:off x="644675" y="196425"/>
            <a:ext cx="6971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latin typeface="Aboreto"/>
                <a:ea typeface="Aboreto"/>
                <a:cs typeface="Aboreto"/>
                <a:sym typeface="Aboreto"/>
              </a:rPr>
              <a:t>A short intro of their tasks</a:t>
            </a:r>
            <a:endParaRPr sz="2300">
              <a:latin typeface="Aboreto"/>
              <a:ea typeface="Aboreto"/>
              <a:cs typeface="Aboreto"/>
              <a:sym typeface="Aboreto"/>
            </a:endParaRPr>
          </a:p>
        </p:txBody>
      </p:sp>
      <p:sp>
        <p:nvSpPr>
          <p:cNvPr id="65" name="Google Shape;65;p10"/>
          <p:cNvSpPr txBox="1"/>
          <p:nvPr/>
        </p:nvSpPr>
        <p:spPr>
          <a:xfrm>
            <a:off x="644675" y="735225"/>
            <a:ext cx="1551300" cy="317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C.E.O</a:t>
            </a:r>
            <a:endParaRPr sz="1800"/>
          </a:p>
          <a:p>
            <a:pPr indent="0" lvl="0" marL="0" rtl="0" algn="l">
              <a:spcBef>
                <a:spcPts val="0"/>
              </a:spcBef>
              <a:spcAft>
                <a:spcPts val="0"/>
              </a:spcAft>
              <a:buNone/>
            </a:pPr>
            <a:r>
              <a:rPr lang="en-US" sz="1100"/>
              <a:t>Chief</a:t>
            </a:r>
            <a:r>
              <a:rPr lang="en-US" sz="1100"/>
              <a:t> </a:t>
            </a:r>
            <a:r>
              <a:rPr lang="en-US" sz="1100"/>
              <a:t>Executive</a:t>
            </a:r>
            <a:r>
              <a:rPr lang="en-US" sz="1100"/>
              <a:t> </a:t>
            </a:r>
            <a:r>
              <a:rPr lang="en-US" sz="1100"/>
              <a:t>Officer</a:t>
            </a:r>
            <a:endParaRPr sz="1100"/>
          </a:p>
          <a:p>
            <a:pPr indent="0" lvl="0" marL="0" rtl="0" algn="l">
              <a:spcBef>
                <a:spcPts val="0"/>
              </a:spcBef>
              <a:spcAft>
                <a:spcPts val="0"/>
              </a:spcAft>
              <a:buNone/>
            </a:pPr>
            <a:br>
              <a:rPr lang="en-US" sz="1100"/>
            </a:br>
            <a:r>
              <a:rPr lang="en-US" sz="1100"/>
              <a:t>Leads the company and the team.</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Maker major </a:t>
            </a:r>
            <a:r>
              <a:rPr lang="en-US" sz="1100"/>
              <a:t>business</a:t>
            </a:r>
            <a:r>
              <a:rPr lang="en-US" sz="1100"/>
              <a:t> decisions.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Sets the company’s goal and vision.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Represents </a:t>
            </a:r>
            <a:r>
              <a:rPr b="1" lang="en-US" sz="1100"/>
              <a:t>GlowMakers</a:t>
            </a:r>
            <a:r>
              <a:rPr lang="en-US" sz="1100"/>
              <a:t> during presentations.</a:t>
            </a:r>
            <a:endParaRPr sz="1100"/>
          </a:p>
          <a:p>
            <a:pPr indent="0" lvl="0" marL="0" rtl="0" algn="l">
              <a:spcBef>
                <a:spcPts val="0"/>
              </a:spcBef>
              <a:spcAft>
                <a:spcPts val="0"/>
              </a:spcAft>
              <a:buNone/>
            </a:pPr>
            <a:r>
              <a:rPr lang="en-US" sz="1100"/>
              <a:t> </a:t>
            </a:r>
            <a:endParaRPr sz="1800"/>
          </a:p>
        </p:txBody>
      </p:sp>
      <p:sp>
        <p:nvSpPr>
          <p:cNvPr id="66" name="Google Shape;66;p10"/>
          <p:cNvSpPr txBox="1"/>
          <p:nvPr/>
        </p:nvSpPr>
        <p:spPr>
          <a:xfrm>
            <a:off x="2237000" y="750225"/>
            <a:ext cx="1487100" cy="327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C.F.O</a:t>
            </a:r>
            <a:endParaRPr sz="1800"/>
          </a:p>
          <a:p>
            <a:pPr indent="0" lvl="0" marL="0" rtl="0" algn="l">
              <a:spcBef>
                <a:spcPts val="0"/>
              </a:spcBef>
              <a:spcAft>
                <a:spcPts val="0"/>
              </a:spcAft>
              <a:buNone/>
            </a:pPr>
            <a:r>
              <a:rPr lang="en-US" sz="1100"/>
              <a:t>Chief Financial Officer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Manages the company's budget.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Calculates product costs, prices and profit.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Tracks income and expenses.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Plans how to use the company's money.</a:t>
            </a:r>
            <a:endParaRPr sz="1100"/>
          </a:p>
          <a:p>
            <a:pPr indent="0" lvl="0" marL="0" rtl="0" algn="l">
              <a:spcBef>
                <a:spcPts val="0"/>
              </a:spcBef>
              <a:spcAft>
                <a:spcPts val="0"/>
              </a:spcAft>
              <a:buNone/>
            </a:pPr>
            <a:r>
              <a:t/>
            </a:r>
            <a:endParaRPr sz="1800"/>
          </a:p>
        </p:txBody>
      </p:sp>
      <p:sp>
        <p:nvSpPr>
          <p:cNvPr id="67" name="Google Shape;67;p10"/>
          <p:cNvSpPr txBox="1"/>
          <p:nvPr/>
        </p:nvSpPr>
        <p:spPr>
          <a:xfrm>
            <a:off x="3778675" y="763850"/>
            <a:ext cx="13779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C.M.O</a:t>
            </a:r>
            <a:r>
              <a:rPr lang="en-US" sz="1100"/>
              <a:t> </a:t>
            </a:r>
            <a:endParaRPr sz="1100"/>
          </a:p>
          <a:p>
            <a:pPr indent="0" lvl="0" marL="0" rtl="0" algn="l">
              <a:spcBef>
                <a:spcPts val="0"/>
              </a:spcBef>
              <a:spcAft>
                <a:spcPts val="0"/>
              </a:spcAft>
              <a:buNone/>
            </a:pPr>
            <a:r>
              <a:rPr lang="en-US" sz="1100"/>
              <a:t>Chief Marketing Officer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Promotes </a:t>
            </a:r>
            <a:r>
              <a:rPr b="1" lang="en-US" sz="1100"/>
              <a:t>GlowMakers</a:t>
            </a:r>
            <a:r>
              <a:rPr lang="en-US" sz="1100"/>
              <a:t> products.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Plans social media advertisements and campaigns.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Understands customer needs.</a:t>
            </a:r>
            <a:endParaRPr sz="1100"/>
          </a:p>
          <a:p>
            <a:pPr indent="0" lvl="0" marL="0" rtl="0" algn="l">
              <a:spcBef>
                <a:spcPts val="0"/>
              </a:spcBef>
              <a:spcAft>
                <a:spcPts val="0"/>
              </a:spcAft>
              <a:buNone/>
            </a:pPr>
            <a:r>
              <a:rPr lang="en-US" sz="1100"/>
              <a:t>Builds brands awareness to attract customers.</a:t>
            </a:r>
            <a:endParaRPr sz="1100"/>
          </a:p>
          <a:p>
            <a:pPr indent="0" lvl="0" marL="0" rtl="0" algn="l">
              <a:spcBef>
                <a:spcPts val="0"/>
              </a:spcBef>
              <a:spcAft>
                <a:spcPts val="0"/>
              </a:spcAft>
              <a:buNone/>
            </a:pPr>
            <a:r>
              <a:t/>
            </a:r>
            <a:endParaRPr sz="1800"/>
          </a:p>
        </p:txBody>
      </p:sp>
      <p:sp>
        <p:nvSpPr>
          <p:cNvPr id="68" name="Google Shape;68;p10"/>
          <p:cNvSpPr txBox="1"/>
          <p:nvPr/>
        </p:nvSpPr>
        <p:spPr>
          <a:xfrm>
            <a:off x="5197575" y="763850"/>
            <a:ext cx="16098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C.O.O </a:t>
            </a:r>
            <a:endParaRPr sz="1800"/>
          </a:p>
          <a:p>
            <a:pPr indent="0" lvl="0" marL="0" rtl="0" algn="l">
              <a:spcBef>
                <a:spcPts val="0"/>
              </a:spcBef>
              <a:spcAft>
                <a:spcPts val="0"/>
              </a:spcAft>
              <a:buNone/>
            </a:pPr>
            <a:r>
              <a:rPr lang="en-US" sz="1100"/>
              <a:t>Chief Operating Officer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Manages daily business operations.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Coordinates manufacturing, packaging and delivery.</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Checks stock and order management.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Helps ensure the business runs smoothly.</a:t>
            </a:r>
            <a:endParaRPr sz="1100"/>
          </a:p>
          <a:p>
            <a:pPr indent="0" lvl="0" marL="0" rtl="0" algn="l">
              <a:spcBef>
                <a:spcPts val="0"/>
              </a:spcBef>
              <a:spcAft>
                <a:spcPts val="0"/>
              </a:spcAft>
              <a:buNone/>
            </a:pPr>
            <a:r>
              <a:t/>
            </a:r>
            <a:endParaRPr sz="1800"/>
          </a:p>
        </p:txBody>
      </p:sp>
      <p:sp>
        <p:nvSpPr>
          <p:cNvPr id="69" name="Google Shape;69;p10"/>
          <p:cNvSpPr txBox="1"/>
          <p:nvPr/>
        </p:nvSpPr>
        <p:spPr>
          <a:xfrm>
            <a:off x="6821125" y="791150"/>
            <a:ext cx="1678200" cy="361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P.</a:t>
            </a:r>
            <a:r>
              <a:rPr lang="en-US" sz="1800"/>
              <a:t>D.M</a:t>
            </a:r>
            <a:endParaRPr sz="1800"/>
          </a:p>
          <a:p>
            <a:pPr indent="0" lvl="0" marL="0" rtl="0" algn="l">
              <a:spcBef>
                <a:spcPts val="0"/>
              </a:spcBef>
              <a:spcAft>
                <a:spcPts val="0"/>
              </a:spcAft>
              <a:buNone/>
            </a:pPr>
            <a:r>
              <a:rPr lang="en-US" sz="1100"/>
              <a:t>Product Development Manager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Develops new product ideas.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Plans product features, packaging and design.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Researches customer preferences and product requirements.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Works with qualified manufacturers to develop and test safe formulations.</a:t>
            </a:r>
            <a:endParaRPr sz="1100"/>
          </a:p>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1"/>
          <p:cNvSpPr/>
          <p:nvPr/>
        </p:nvSpPr>
        <p:spPr>
          <a:xfrm>
            <a:off x="476280" y="38088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lang="en-US" sz="2340">
                <a:solidFill>
                  <a:srgbClr val="263857"/>
                </a:solidFill>
                <a:latin typeface="Aboreto"/>
                <a:ea typeface="Aboreto"/>
                <a:cs typeface="Aboreto"/>
                <a:sym typeface="Aboreto"/>
              </a:rPr>
              <a:t>What we offer</a:t>
            </a:r>
            <a:endParaRPr b="0" i="0" sz="2340" u="none" cap="none" strike="noStrike">
              <a:solidFill>
                <a:srgbClr val="000000"/>
              </a:solidFill>
              <a:latin typeface="Noto Sans Symbols"/>
              <a:ea typeface="Noto Sans Symbols"/>
              <a:cs typeface="Noto Sans Symbols"/>
              <a:sym typeface="Noto Sans Symbols"/>
            </a:endParaRPr>
          </a:p>
        </p:txBody>
      </p:sp>
      <p:sp>
        <p:nvSpPr>
          <p:cNvPr id="75" name="Google Shape;75;p11"/>
          <p:cNvSpPr/>
          <p:nvPr/>
        </p:nvSpPr>
        <p:spPr>
          <a:xfrm>
            <a:off x="476468" y="742325"/>
            <a:ext cx="8191200" cy="1523400"/>
          </a:xfrm>
          <a:prstGeom prst="rect">
            <a:avLst/>
          </a:prstGeom>
          <a:noFill/>
          <a:ln>
            <a:noFill/>
          </a:ln>
        </p:spPr>
        <p:txBody>
          <a:bodyPr anchorCtr="0" anchor="t" bIns="45700" lIns="91425" spcFirstLastPara="1" rIns="91425" wrap="square" tIns="45700">
            <a:noAutofit/>
          </a:bodyPr>
          <a:lstStyle/>
          <a:p>
            <a:pPr indent="0" lvl="0" marL="0" marR="0" rtl="0" algn="l">
              <a:lnSpc>
                <a:spcPct val="130001"/>
              </a:lnSpc>
              <a:spcBef>
                <a:spcPts val="0"/>
              </a:spcBef>
              <a:spcAft>
                <a:spcPts val="0"/>
              </a:spcAft>
              <a:buNone/>
            </a:pPr>
            <a:r>
              <a:rPr b="1" lang="en-US" sz="1360">
                <a:solidFill>
                  <a:srgbClr val="263857"/>
                </a:solidFill>
                <a:latin typeface="Barlow"/>
                <a:ea typeface="Barlow"/>
                <a:cs typeface="Barlow"/>
                <a:sym typeface="Barlow"/>
              </a:rPr>
              <a:t>We </a:t>
            </a:r>
            <a:r>
              <a:rPr b="1" lang="en-US" sz="1360">
                <a:solidFill>
                  <a:srgbClr val="263857"/>
                </a:solidFill>
                <a:latin typeface="Barlow"/>
                <a:ea typeface="Barlow"/>
                <a:cs typeface="Barlow"/>
                <a:sym typeface="Barlow"/>
              </a:rPr>
              <a:t>offer three types of products:</a:t>
            </a:r>
            <a:endParaRPr b="0" i="0" sz="1360" u="none" cap="none" strike="noStrike">
              <a:solidFill>
                <a:srgbClr val="000000"/>
              </a:solidFill>
              <a:latin typeface="Noto Sans Symbols"/>
              <a:ea typeface="Noto Sans Symbols"/>
              <a:cs typeface="Noto Sans Symbols"/>
              <a:sym typeface="Noto Sans Symbols"/>
            </a:endParaRPr>
          </a:p>
        </p:txBody>
      </p:sp>
      <p:pic>
        <p:nvPicPr>
          <p:cNvPr id="76" name="Google Shape;76;p11" title="WhatsApp Image 2026-10-27 at 10.41.28 PM(1).jpeg"/>
          <p:cNvPicPr preferRelativeResize="0"/>
          <p:nvPr/>
        </p:nvPicPr>
        <p:blipFill>
          <a:blip r:embed="rId3">
            <a:alphaModFix/>
          </a:blip>
          <a:stretch>
            <a:fillRect/>
          </a:stretch>
        </p:blipFill>
        <p:spPr>
          <a:xfrm>
            <a:off x="5808124" y="742325"/>
            <a:ext cx="2151565" cy="3324726"/>
          </a:xfrm>
          <a:prstGeom prst="rect">
            <a:avLst/>
          </a:prstGeom>
          <a:noFill/>
          <a:ln>
            <a:noFill/>
          </a:ln>
        </p:spPr>
      </p:pic>
      <p:sp>
        <p:nvSpPr>
          <p:cNvPr id="77" name="Google Shape;77;p11"/>
          <p:cNvSpPr txBox="1"/>
          <p:nvPr/>
        </p:nvSpPr>
        <p:spPr>
          <a:xfrm>
            <a:off x="476475" y="1101325"/>
            <a:ext cx="697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latin typeface="Amatic SC"/>
                <a:ea typeface="Amatic SC"/>
                <a:cs typeface="Amatic SC"/>
                <a:sym typeface="Amatic SC"/>
              </a:rPr>
              <a:t>Daily use cleanser :</a:t>
            </a:r>
            <a:endParaRPr b="1" sz="1800">
              <a:latin typeface="Amatic SC"/>
              <a:ea typeface="Amatic SC"/>
              <a:cs typeface="Amatic SC"/>
              <a:sym typeface="Amatic SC"/>
            </a:endParaRPr>
          </a:p>
        </p:txBody>
      </p:sp>
      <p:sp>
        <p:nvSpPr>
          <p:cNvPr id="78" name="Google Shape;78;p11"/>
          <p:cNvSpPr txBox="1"/>
          <p:nvPr/>
        </p:nvSpPr>
        <p:spPr>
          <a:xfrm>
            <a:off x="476475" y="1626550"/>
            <a:ext cx="4605000" cy="244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t>Meet your daily reset in a bottle.</a:t>
            </a:r>
            <a:endParaRPr b="1" sz="1100"/>
          </a:p>
          <a:p>
            <a:pPr indent="0" lvl="0" marL="0" rtl="0" algn="l">
              <a:lnSpc>
                <a:spcPct val="115000"/>
              </a:lnSpc>
              <a:spcBef>
                <a:spcPts val="1200"/>
              </a:spcBef>
              <a:spcAft>
                <a:spcPts val="0"/>
              </a:spcAft>
              <a:buNone/>
            </a:pPr>
            <a:r>
              <a:rPr lang="en-US" sz="1100"/>
              <a:t>Say goodbye to dull, tired skin and hello to an effortless glow! </a:t>
            </a:r>
            <a:endParaRPr sz="1100"/>
          </a:p>
          <a:p>
            <a:pPr indent="0" lvl="0" marL="0" rtl="0" algn="l">
              <a:lnSpc>
                <a:spcPct val="115000"/>
              </a:lnSpc>
              <a:spcBef>
                <a:spcPts val="1200"/>
              </a:spcBef>
              <a:spcAft>
                <a:spcPts val="0"/>
              </a:spcAft>
              <a:buNone/>
            </a:pPr>
            <a:r>
              <a:rPr b="1" lang="en-US" sz="1100"/>
              <a:t>Glow Maker Daily Cleanser</a:t>
            </a:r>
            <a:r>
              <a:rPr lang="en-US" sz="1100"/>
              <a:t> gently washes away impurities, excess oil, and makeup without stripping your skin’s natural moisture barrier. Formulated for everyday use, it clears away the day to reveal a soft, fresh, and hydrated complexion every morning and night.</a:t>
            </a:r>
            <a:endParaRPr sz="1100"/>
          </a:p>
          <a:p>
            <a:pPr indent="0" lvl="0" marL="0" rtl="0" algn="l">
              <a:lnSpc>
                <a:spcPct val="115000"/>
              </a:lnSpc>
              <a:spcBef>
                <a:spcPts val="1200"/>
              </a:spcBef>
              <a:spcAft>
                <a:spcPts val="0"/>
              </a:spcAft>
              <a:buNone/>
            </a:pPr>
            <a:r>
              <a:rPr lang="en-US" sz="1100"/>
              <a:t> </a:t>
            </a:r>
            <a:r>
              <a:rPr i="1" lang="en-US" sz="1100"/>
              <a:t>Cleanse. Refresh. Glow.</a:t>
            </a:r>
            <a:endParaRPr i="1" sz="1100"/>
          </a:p>
          <a:p>
            <a:pPr indent="0" lvl="0" marL="0" rtl="0" algn="l">
              <a:spcBef>
                <a:spcPts val="1200"/>
              </a:spcBef>
              <a:spcAft>
                <a:spcPts val="0"/>
              </a:spcAft>
              <a:buNone/>
            </a:pPr>
            <a:r>
              <a:t/>
            </a:r>
            <a:endParaRPr sz="1800"/>
          </a:p>
        </p:txBody>
      </p:sp>
      <p:sp>
        <p:nvSpPr>
          <p:cNvPr id="79" name="Google Shape;79;p11"/>
          <p:cNvSpPr txBox="1"/>
          <p:nvPr/>
        </p:nvSpPr>
        <p:spPr>
          <a:xfrm>
            <a:off x="627600" y="3369875"/>
            <a:ext cx="7858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Amatic SC"/>
                <a:ea typeface="Amatic SC"/>
                <a:cs typeface="Amatic SC"/>
                <a:sym typeface="Amatic SC"/>
              </a:rPr>
              <a:t>only in </a:t>
            </a:r>
            <a:r>
              <a:rPr lang="en-US" sz="1300">
                <a:latin typeface="Georgia"/>
                <a:ea typeface="Georgia"/>
                <a:cs typeface="Georgia"/>
                <a:sym typeface="Georgia"/>
              </a:rPr>
              <a:t> ₹349 </a:t>
            </a:r>
            <a:endParaRPr sz="1200">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2"/>
          <p:cNvSpPr/>
          <p:nvPr/>
        </p:nvSpPr>
        <p:spPr>
          <a:xfrm>
            <a:off x="476280" y="380880"/>
            <a:ext cx="819108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lang="en-US" sz="2340">
                <a:solidFill>
                  <a:srgbClr val="263857"/>
                </a:solidFill>
                <a:latin typeface="Aboreto"/>
                <a:ea typeface="Aboreto"/>
                <a:cs typeface="Aboreto"/>
                <a:sym typeface="Aboreto"/>
              </a:rPr>
              <a:t>And ALSO</a:t>
            </a:r>
            <a:r>
              <a:rPr lang="en-US" sz="2040">
                <a:solidFill>
                  <a:srgbClr val="263857"/>
                </a:solidFill>
                <a:latin typeface="Aboreto"/>
                <a:ea typeface="Aboreto"/>
                <a:cs typeface="Aboreto"/>
                <a:sym typeface="Aboreto"/>
              </a:rPr>
              <a:t> </a:t>
            </a:r>
            <a:endParaRPr i="0" sz="2040" u="none" cap="none" strike="noStrike">
              <a:solidFill>
                <a:srgbClr val="000000"/>
              </a:solidFill>
              <a:latin typeface="Noto Sans Symbols"/>
              <a:ea typeface="Noto Sans Symbols"/>
              <a:cs typeface="Noto Sans Symbols"/>
              <a:sym typeface="Noto Sans Symbols"/>
            </a:endParaRPr>
          </a:p>
        </p:txBody>
      </p:sp>
      <p:sp>
        <p:nvSpPr>
          <p:cNvPr id="85" name="Google Shape;85;p12"/>
          <p:cNvSpPr/>
          <p:nvPr/>
        </p:nvSpPr>
        <p:spPr>
          <a:xfrm>
            <a:off x="476280" y="1333440"/>
            <a:ext cx="3904920" cy="91404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t/>
            </a:r>
            <a:endParaRPr b="1" i="0" sz="1200" u="none" cap="none" strike="noStrike">
              <a:solidFill>
                <a:srgbClr val="000000"/>
              </a:solidFill>
              <a:latin typeface="Noto Sans Symbols"/>
              <a:ea typeface="Noto Sans Symbols"/>
              <a:cs typeface="Noto Sans Symbols"/>
              <a:sym typeface="Noto Sans Symbols"/>
            </a:endParaRPr>
          </a:p>
        </p:txBody>
      </p:sp>
      <p:sp>
        <p:nvSpPr>
          <p:cNvPr id="86" name="Google Shape;86;p12"/>
          <p:cNvSpPr/>
          <p:nvPr/>
        </p:nvSpPr>
        <p:spPr>
          <a:xfrm>
            <a:off x="4762440" y="1333440"/>
            <a:ext cx="3904920" cy="55224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t/>
            </a:r>
            <a:endParaRPr b="0" i="0" sz="1110" u="none" cap="none" strike="noStrike">
              <a:solidFill>
                <a:srgbClr val="000000"/>
              </a:solidFill>
              <a:latin typeface="Noto Sans Symbols"/>
              <a:ea typeface="Noto Sans Symbols"/>
              <a:cs typeface="Noto Sans Symbols"/>
              <a:sym typeface="Noto Sans Symbols"/>
            </a:endParaRPr>
          </a:p>
        </p:txBody>
      </p:sp>
      <p:sp>
        <p:nvSpPr>
          <p:cNvPr id="87" name="Google Shape;87;p12"/>
          <p:cNvSpPr/>
          <p:nvPr/>
        </p:nvSpPr>
        <p:spPr>
          <a:xfrm>
            <a:off x="476280" y="4381560"/>
            <a:ext cx="8191080" cy="36144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sp>
        <p:nvSpPr>
          <p:cNvPr id="88" name="Google Shape;88;p12"/>
          <p:cNvSpPr txBox="1"/>
          <p:nvPr/>
        </p:nvSpPr>
        <p:spPr>
          <a:xfrm>
            <a:off x="600300" y="1514400"/>
            <a:ext cx="785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p:txBody>
      </p:sp>
      <p:sp>
        <p:nvSpPr>
          <p:cNvPr id="89" name="Google Shape;89;p12"/>
          <p:cNvSpPr txBox="1"/>
          <p:nvPr/>
        </p:nvSpPr>
        <p:spPr>
          <a:xfrm>
            <a:off x="476275" y="668525"/>
            <a:ext cx="78585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50">
                <a:latin typeface="Barlow"/>
                <a:ea typeface="Barlow"/>
                <a:cs typeface="Barlow"/>
                <a:sym typeface="Barlow"/>
              </a:rPr>
              <a:t>For dry skin we offer</a:t>
            </a:r>
            <a:r>
              <a:rPr b="1" lang="en-US" sz="1350">
                <a:latin typeface="Comfortaa"/>
                <a:ea typeface="Comfortaa"/>
                <a:cs typeface="Comfortaa"/>
                <a:sym typeface="Comfortaa"/>
              </a:rPr>
              <a:t>:</a:t>
            </a:r>
            <a:endParaRPr b="1" sz="1350">
              <a:latin typeface="Comfortaa"/>
              <a:ea typeface="Comfortaa"/>
              <a:cs typeface="Comfortaa"/>
              <a:sym typeface="Comfortaa"/>
            </a:endParaRPr>
          </a:p>
        </p:txBody>
      </p:sp>
      <p:sp>
        <p:nvSpPr>
          <p:cNvPr id="90" name="Google Shape;90;p12"/>
          <p:cNvSpPr txBox="1"/>
          <p:nvPr/>
        </p:nvSpPr>
        <p:spPr>
          <a:xfrm>
            <a:off x="476275" y="998125"/>
            <a:ext cx="785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Amatic SC"/>
                <a:ea typeface="Amatic SC"/>
                <a:cs typeface="Amatic SC"/>
                <a:sym typeface="Amatic SC"/>
              </a:rPr>
              <a:t>Glow maker Moisturizer</a:t>
            </a:r>
            <a:endParaRPr sz="1800">
              <a:latin typeface="Amatic SC"/>
              <a:ea typeface="Amatic SC"/>
              <a:cs typeface="Amatic SC"/>
              <a:sym typeface="Amatic SC"/>
            </a:endParaRPr>
          </a:p>
        </p:txBody>
      </p:sp>
      <p:pic>
        <p:nvPicPr>
          <p:cNvPr id="91" name="Google Shape;91;p12" title="WhatsApp Image 2026-10-27 at 10.41.28 PM.jpeg"/>
          <p:cNvPicPr preferRelativeResize="0"/>
          <p:nvPr/>
        </p:nvPicPr>
        <p:blipFill>
          <a:blip r:embed="rId3">
            <a:alphaModFix/>
          </a:blip>
          <a:stretch>
            <a:fillRect/>
          </a:stretch>
        </p:blipFill>
        <p:spPr>
          <a:xfrm>
            <a:off x="5123426" y="548925"/>
            <a:ext cx="3182950" cy="3466525"/>
          </a:xfrm>
          <a:prstGeom prst="rect">
            <a:avLst/>
          </a:prstGeom>
          <a:noFill/>
          <a:ln>
            <a:noFill/>
          </a:ln>
        </p:spPr>
      </p:pic>
      <p:sp>
        <p:nvSpPr>
          <p:cNvPr id="92" name="Google Shape;92;p12"/>
          <p:cNvSpPr txBox="1"/>
          <p:nvPr/>
        </p:nvSpPr>
        <p:spPr>
          <a:xfrm>
            <a:off x="476338" y="1459825"/>
            <a:ext cx="3904800" cy="282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t>Your daily dose of dewy, effortless glow.</a:t>
            </a:r>
            <a:endParaRPr b="1" sz="1100"/>
          </a:p>
          <a:p>
            <a:pPr indent="0" lvl="0" marL="0" rtl="0" algn="l">
              <a:lnSpc>
                <a:spcPct val="115000"/>
              </a:lnSpc>
              <a:spcBef>
                <a:spcPts val="1200"/>
              </a:spcBef>
              <a:spcAft>
                <a:spcPts val="0"/>
              </a:spcAft>
              <a:buNone/>
            </a:pPr>
            <a:r>
              <a:rPr lang="en-US" sz="1100"/>
              <a:t>Say goodbye to dry, dull skin and hello to weightless hydration!</a:t>
            </a:r>
            <a:endParaRPr sz="1100"/>
          </a:p>
          <a:p>
            <a:pPr indent="0" lvl="0" marL="0" rtl="0" algn="l">
              <a:lnSpc>
                <a:spcPct val="115000"/>
              </a:lnSpc>
              <a:spcBef>
                <a:spcPts val="1200"/>
              </a:spcBef>
              <a:spcAft>
                <a:spcPts val="0"/>
              </a:spcAft>
              <a:buNone/>
            </a:pPr>
            <a:r>
              <a:rPr b="1" lang="en-US" sz="1100"/>
              <a:t>Glow Maker Daily Moisturizer</a:t>
            </a:r>
            <a:r>
              <a:rPr lang="en-US" sz="1100"/>
              <a:t> melts effortlessly into your skin, locking in moisture without any greasy feel. Formulated for everyday wear, it instantly plumps, smooths, and restores your natural radiance so you can glow with confidence all day long.</a:t>
            </a:r>
            <a:endParaRPr sz="1100"/>
          </a:p>
          <a:p>
            <a:pPr indent="0" lvl="0" marL="0" rtl="0" algn="l">
              <a:lnSpc>
                <a:spcPct val="115000"/>
              </a:lnSpc>
              <a:spcBef>
                <a:spcPts val="1200"/>
              </a:spcBef>
              <a:spcAft>
                <a:spcPts val="0"/>
              </a:spcAft>
              <a:buNone/>
            </a:pPr>
            <a:r>
              <a:rPr lang="en-US" sz="1100"/>
              <a:t> </a:t>
            </a:r>
            <a:r>
              <a:rPr i="1" lang="en-US" sz="1100"/>
              <a:t>Hydrate. Plump. Glow.</a:t>
            </a:r>
            <a:endParaRPr sz="1200">
              <a:latin typeface="Amatic SC"/>
              <a:ea typeface="Amatic SC"/>
              <a:cs typeface="Amatic SC"/>
              <a:sym typeface="Amatic SC"/>
            </a:endParaRPr>
          </a:p>
          <a:p>
            <a:pPr indent="0" lvl="0" marL="0" rtl="0" algn="l">
              <a:spcBef>
                <a:spcPts val="1200"/>
              </a:spcBef>
              <a:spcAft>
                <a:spcPts val="0"/>
              </a:spcAft>
              <a:buNone/>
            </a:pPr>
            <a:r>
              <a:t/>
            </a:r>
            <a:endParaRPr sz="1800"/>
          </a:p>
        </p:txBody>
      </p:sp>
      <p:sp>
        <p:nvSpPr>
          <p:cNvPr id="93" name="Google Shape;93;p12"/>
          <p:cNvSpPr txBox="1"/>
          <p:nvPr/>
        </p:nvSpPr>
        <p:spPr>
          <a:xfrm>
            <a:off x="476350" y="3599950"/>
            <a:ext cx="785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Amatic SC"/>
                <a:ea typeface="Amatic SC"/>
                <a:cs typeface="Amatic SC"/>
                <a:sym typeface="Amatic SC"/>
              </a:rPr>
              <a:t>only in</a:t>
            </a:r>
            <a:r>
              <a:rPr lang="en-US" sz="1500">
                <a:latin typeface="Amatic SC"/>
                <a:ea typeface="Amatic SC"/>
                <a:cs typeface="Amatic SC"/>
                <a:sym typeface="Amatic SC"/>
              </a:rPr>
              <a:t> </a:t>
            </a:r>
            <a:r>
              <a:rPr lang="en-US" sz="1500">
                <a:latin typeface="Georgia"/>
                <a:ea typeface="Georgia"/>
                <a:cs typeface="Georgia"/>
                <a:sym typeface="Georgia"/>
              </a:rPr>
              <a:t>₹</a:t>
            </a:r>
            <a:r>
              <a:rPr lang="en-US" sz="1300">
                <a:latin typeface="Georgia"/>
                <a:ea typeface="Georgia"/>
                <a:cs typeface="Georgia"/>
                <a:sym typeface="Georgia"/>
              </a:rPr>
              <a:t>499</a:t>
            </a:r>
            <a:r>
              <a:rPr lang="en-US" sz="1300"/>
              <a:t> </a:t>
            </a:r>
            <a:endParaRPr sz="900"/>
          </a:p>
        </p:txBody>
      </p:sp>
      <p:sp>
        <p:nvSpPr>
          <p:cNvPr id="94" name="Google Shape;94;p12"/>
          <p:cNvSpPr txBox="1"/>
          <p:nvPr/>
        </p:nvSpPr>
        <p:spPr>
          <a:xfrm>
            <a:off x="1255175" y="600300"/>
            <a:ext cx="785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nvSpPr>
        <p:spPr>
          <a:xfrm>
            <a:off x="375175" y="278350"/>
            <a:ext cx="6971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latin typeface="Aboreto"/>
                <a:ea typeface="Aboreto"/>
                <a:cs typeface="Aboreto"/>
                <a:sym typeface="Aboreto"/>
              </a:rPr>
              <a:t>in sunblock segment</a:t>
            </a:r>
            <a:endParaRPr sz="2300">
              <a:latin typeface="Aboreto"/>
              <a:ea typeface="Aboreto"/>
              <a:cs typeface="Aboreto"/>
              <a:sym typeface="Aboreto"/>
            </a:endParaRPr>
          </a:p>
        </p:txBody>
      </p:sp>
      <p:sp>
        <p:nvSpPr>
          <p:cNvPr id="100" name="Google Shape;100;p13"/>
          <p:cNvSpPr txBox="1"/>
          <p:nvPr/>
        </p:nvSpPr>
        <p:spPr>
          <a:xfrm>
            <a:off x="375175" y="817150"/>
            <a:ext cx="697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t>We are proudly offering:</a:t>
            </a:r>
            <a:endParaRPr b="1" sz="1300"/>
          </a:p>
        </p:txBody>
      </p:sp>
      <p:sp>
        <p:nvSpPr>
          <p:cNvPr id="101" name="Google Shape;101;p13"/>
          <p:cNvSpPr txBox="1"/>
          <p:nvPr/>
        </p:nvSpPr>
        <p:spPr>
          <a:xfrm>
            <a:off x="375175" y="1202050"/>
            <a:ext cx="219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Amatic SC"/>
                <a:ea typeface="Amatic SC"/>
                <a:cs typeface="Amatic SC"/>
                <a:sym typeface="Amatic SC"/>
              </a:rPr>
              <a:t>Glow Maker Sun Shield SPF 50</a:t>
            </a:r>
            <a:endParaRPr sz="1800">
              <a:latin typeface="Amatic SC"/>
              <a:ea typeface="Amatic SC"/>
              <a:cs typeface="Amatic SC"/>
              <a:sym typeface="Amatic SC"/>
            </a:endParaRPr>
          </a:p>
        </p:txBody>
      </p:sp>
      <p:pic>
        <p:nvPicPr>
          <p:cNvPr id="102" name="Google Shape;102;p13" title="WhatsApp Image 2026-10-27 at 10.41.27 PM.jpeg"/>
          <p:cNvPicPr preferRelativeResize="0"/>
          <p:nvPr/>
        </p:nvPicPr>
        <p:blipFill>
          <a:blip r:embed="rId3">
            <a:alphaModFix/>
          </a:blip>
          <a:stretch>
            <a:fillRect/>
          </a:stretch>
        </p:blipFill>
        <p:spPr>
          <a:xfrm>
            <a:off x="5196700" y="629325"/>
            <a:ext cx="3021777" cy="3433025"/>
          </a:xfrm>
          <a:prstGeom prst="rect">
            <a:avLst/>
          </a:prstGeom>
          <a:noFill/>
          <a:ln>
            <a:noFill/>
          </a:ln>
        </p:spPr>
      </p:pic>
      <p:sp>
        <p:nvSpPr>
          <p:cNvPr id="103" name="Google Shape;103;p13"/>
          <p:cNvSpPr txBox="1"/>
          <p:nvPr/>
        </p:nvSpPr>
        <p:spPr>
          <a:xfrm>
            <a:off x="375175" y="1663750"/>
            <a:ext cx="3942900" cy="283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200"/>
              <a:t>Sun protection that glowing skin actually loves.</a:t>
            </a:r>
            <a:endParaRPr b="1" sz="1200"/>
          </a:p>
          <a:p>
            <a:pPr indent="0" lvl="0" marL="0" rtl="0" algn="l">
              <a:lnSpc>
                <a:spcPct val="115000"/>
              </a:lnSpc>
              <a:spcBef>
                <a:spcPts val="1200"/>
              </a:spcBef>
              <a:spcAft>
                <a:spcPts val="0"/>
              </a:spcAft>
              <a:buNone/>
            </a:pPr>
            <a:r>
              <a:rPr lang="en-US" sz="1200"/>
              <a:t>Protect your radiant look while shielding your skin from harmful rays! </a:t>
            </a:r>
            <a:r>
              <a:rPr b="1" lang="en-US" sz="1200"/>
              <a:t>Glow Maker Sun Shield SPF 50</a:t>
            </a:r>
            <a:r>
              <a:rPr lang="en-US" sz="1200"/>
              <a:t> offers high-performance Broad Spectrum protection without the heavy white cast or sticky feel. Formulated for everyday wear, it glides on smoothly, melts in seamlessly, and leaves behind a lightweight, dewy finish that lasts all day.</a:t>
            </a:r>
            <a:endParaRPr sz="1200"/>
          </a:p>
          <a:p>
            <a:pPr indent="0" lvl="0" marL="0" rtl="0" algn="l">
              <a:lnSpc>
                <a:spcPct val="115000"/>
              </a:lnSpc>
              <a:spcBef>
                <a:spcPts val="1200"/>
              </a:spcBef>
              <a:spcAft>
                <a:spcPts val="0"/>
              </a:spcAft>
              <a:buNone/>
            </a:pPr>
            <a:r>
              <a:rPr i="1" lang="en-US" sz="1200"/>
              <a:t>Shield. Hydrate. Glow.</a:t>
            </a:r>
            <a:endParaRPr i="1" sz="1200"/>
          </a:p>
          <a:p>
            <a:pPr indent="0" lvl="0" marL="0" rtl="0" algn="l">
              <a:spcBef>
                <a:spcPts val="1200"/>
              </a:spcBef>
              <a:spcAft>
                <a:spcPts val="0"/>
              </a:spcAft>
              <a:buNone/>
            </a:pPr>
            <a:r>
              <a:t/>
            </a:r>
            <a:endParaRPr sz="1800"/>
          </a:p>
        </p:txBody>
      </p:sp>
      <p:sp>
        <p:nvSpPr>
          <p:cNvPr id="104" name="Google Shape;104;p13"/>
          <p:cNvSpPr txBox="1"/>
          <p:nvPr/>
        </p:nvSpPr>
        <p:spPr>
          <a:xfrm>
            <a:off x="375175" y="3830400"/>
            <a:ext cx="697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Amatic SC"/>
                <a:ea typeface="Amatic SC"/>
                <a:cs typeface="Amatic SC"/>
                <a:sym typeface="Amatic SC"/>
              </a:rPr>
              <a:t>now in </a:t>
            </a:r>
            <a:r>
              <a:rPr lang="en-US" sz="1300">
                <a:latin typeface="Georgia"/>
                <a:ea typeface="Georgia"/>
                <a:cs typeface="Georgia"/>
                <a:sym typeface="Georgia"/>
              </a:rPr>
              <a:t>₹449</a:t>
            </a:r>
            <a:r>
              <a:rPr lang="en-US" sz="1800">
                <a:latin typeface="Georgia"/>
                <a:ea typeface="Georgia"/>
                <a:cs typeface="Georgia"/>
                <a:sym typeface="Georgia"/>
              </a:rPr>
              <a:t> </a:t>
            </a:r>
            <a:endParaRPr sz="1800">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4"/>
          <p:cNvSpPr txBox="1"/>
          <p:nvPr/>
        </p:nvSpPr>
        <p:spPr>
          <a:xfrm>
            <a:off x="556700" y="361525"/>
            <a:ext cx="6971100" cy="109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latin typeface="Aboreto"/>
                <a:ea typeface="Aboreto"/>
                <a:cs typeface="Aboreto"/>
                <a:sym typeface="Aboreto"/>
              </a:rPr>
              <a:t>MARKET ANALYSIS </a:t>
            </a:r>
            <a:endParaRPr sz="2300">
              <a:latin typeface="Aboreto"/>
              <a:ea typeface="Aboreto"/>
              <a:cs typeface="Aboreto"/>
              <a:sym typeface="Aboreto"/>
            </a:endParaRPr>
          </a:p>
          <a:p>
            <a:pPr indent="0" lvl="0" marL="0" rtl="0" algn="l">
              <a:spcBef>
                <a:spcPts val="0"/>
              </a:spcBef>
              <a:spcAft>
                <a:spcPts val="0"/>
              </a:spcAft>
              <a:buNone/>
            </a:pPr>
            <a:r>
              <a:rPr b="1" lang="en-US" sz="1800">
                <a:latin typeface="Amatic SC"/>
                <a:ea typeface="Amatic SC"/>
                <a:cs typeface="Amatic SC"/>
                <a:sym typeface="Amatic SC"/>
              </a:rPr>
              <a:t>Target Customer Profile</a:t>
            </a:r>
            <a:r>
              <a:rPr lang="en-US" sz="1800"/>
              <a:t> </a:t>
            </a:r>
            <a:endParaRPr sz="1800"/>
          </a:p>
          <a:p>
            <a:pPr indent="0" lvl="0" marL="0" rtl="0" algn="l">
              <a:spcBef>
                <a:spcPts val="0"/>
              </a:spcBef>
              <a:spcAft>
                <a:spcPts val="0"/>
              </a:spcAft>
              <a:buNone/>
            </a:pPr>
            <a:r>
              <a:t/>
            </a:r>
            <a:endParaRPr sz="1800"/>
          </a:p>
        </p:txBody>
      </p:sp>
      <p:sp>
        <p:nvSpPr>
          <p:cNvPr id="110" name="Google Shape;110;p14"/>
          <p:cNvSpPr txBox="1"/>
          <p:nvPr/>
        </p:nvSpPr>
        <p:spPr>
          <a:xfrm>
            <a:off x="556700" y="1454425"/>
            <a:ext cx="25674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p>
          <a:p>
            <a:pPr indent="0" lvl="0" marL="0" rtl="0" algn="l">
              <a:spcBef>
                <a:spcPts val="0"/>
              </a:spcBef>
              <a:spcAft>
                <a:spcPts val="0"/>
              </a:spcAft>
              <a:buNone/>
            </a:pPr>
            <a:r>
              <a:rPr b="1" lang="en-US" sz="1800"/>
              <a:t>Gen Z &amp; Millennials</a:t>
            </a:r>
            <a:r>
              <a:rPr lang="en-US" sz="1800"/>
              <a:t>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Urban consumers aged 18-32 seeking minimal, glass-skin aesthetic routines.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111" name="Google Shape;111;p14"/>
          <p:cNvSpPr txBox="1"/>
          <p:nvPr/>
        </p:nvSpPr>
        <p:spPr>
          <a:xfrm flipH="1">
            <a:off x="3124100" y="1454425"/>
            <a:ext cx="2456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p>
          <a:p>
            <a:pPr indent="0" lvl="0" marL="0" rtl="0" algn="l">
              <a:spcBef>
                <a:spcPts val="0"/>
              </a:spcBef>
              <a:spcAft>
                <a:spcPts val="0"/>
              </a:spcAft>
              <a:buNone/>
            </a:pPr>
            <a:r>
              <a:rPr b="1" lang="en-US" sz="1800"/>
              <a:t>Core Pain Points</a:t>
            </a:r>
            <a:endParaRPr b="1" sz="1800"/>
          </a:p>
          <a:p>
            <a:pPr indent="0" lvl="0" marL="0" rtl="0" algn="l">
              <a:spcBef>
                <a:spcPts val="0"/>
              </a:spcBef>
              <a:spcAft>
                <a:spcPts val="0"/>
              </a:spcAft>
              <a:buNone/>
            </a:pPr>
            <a:r>
              <a:rPr lang="en-US" sz="1800"/>
              <a:t> </a:t>
            </a:r>
            <a:endParaRPr sz="1800"/>
          </a:p>
          <a:p>
            <a:pPr indent="0" lvl="0" marL="0" rtl="0" algn="l">
              <a:spcBef>
                <a:spcPts val="0"/>
              </a:spcBef>
              <a:spcAft>
                <a:spcPts val="0"/>
              </a:spcAft>
              <a:buNone/>
            </a:pPr>
            <a:r>
              <a:rPr lang="en-US" sz="1800"/>
              <a:t>Overwhelmed by complex 10-step routines, heavy white casts, and high K- beauty prices. </a:t>
            </a:r>
            <a:endParaRPr sz="1800"/>
          </a:p>
        </p:txBody>
      </p:sp>
      <p:sp>
        <p:nvSpPr>
          <p:cNvPr id="112" name="Google Shape;112;p14"/>
          <p:cNvSpPr txBox="1"/>
          <p:nvPr/>
        </p:nvSpPr>
        <p:spPr>
          <a:xfrm>
            <a:off x="5580200" y="1454425"/>
            <a:ext cx="2292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p>
          <a:p>
            <a:pPr indent="0" lvl="0" marL="0" rtl="0" algn="l">
              <a:spcBef>
                <a:spcPts val="0"/>
              </a:spcBef>
              <a:spcAft>
                <a:spcPts val="0"/>
              </a:spcAft>
              <a:buNone/>
            </a:pPr>
            <a:r>
              <a:rPr b="1" lang="en-US" sz="1800"/>
              <a:t>The Glow Maker Pitch</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rPr lang="en-US" sz="1800"/>
              <a:t>A clean, affordable 3-step daily ritual engineered for real Indian skin tones.</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idx="4294967295" type="title"/>
          </p:nvPr>
        </p:nvSpPr>
        <p:spPr>
          <a:xfrm>
            <a:off x="2190600" y="695160"/>
            <a:ext cx="4762200" cy="237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accent1"/>
              </a:buClr>
              <a:buSzPts val="7200"/>
              <a:buFont typeface="Aboreto"/>
              <a:buNone/>
            </a:pPr>
            <a:r>
              <a:rPr b="0" i="0" lang="en-US" sz="7200" u="none" cap="none" strike="noStrike">
                <a:solidFill>
                  <a:schemeClr val="accent1"/>
                </a:solidFill>
                <a:latin typeface="Aboreto"/>
                <a:ea typeface="Aboreto"/>
                <a:cs typeface="Aboreto"/>
                <a:sym typeface="Aboreto"/>
              </a:rPr>
              <a:t>Thanks!</a:t>
            </a:r>
            <a:endParaRPr b="0" i="0" sz="7200" u="none" cap="none" strike="noStrike">
              <a:solidFill>
                <a:schemeClr val="dk1"/>
              </a:solidFill>
              <a:latin typeface="Arial"/>
              <a:ea typeface="Arial"/>
              <a:cs typeface="Arial"/>
              <a:sym typeface="Arial"/>
            </a:endParaRPr>
          </a:p>
        </p:txBody>
      </p:sp>
      <p:sp>
        <p:nvSpPr>
          <p:cNvPr id="118" name="Google Shape;118;p15"/>
          <p:cNvSpPr txBox="1"/>
          <p:nvPr>
            <p:ph idx="4294967295" type="subTitle"/>
          </p:nvPr>
        </p:nvSpPr>
        <p:spPr>
          <a:xfrm>
            <a:off x="3086280" y="2048040"/>
            <a:ext cx="2971500" cy="1169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accent1"/>
              </a:buClr>
              <a:buSzPts val="1600"/>
              <a:buFont typeface="Barlow"/>
              <a:buNone/>
            </a:pPr>
            <a:r>
              <a:rPr b="1" i="0" lang="en-US" sz="1600" u="none" cap="none" strike="noStrike">
                <a:solidFill>
                  <a:schemeClr val="accent1"/>
                </a:solidFill>
                <a:latin typeface="Barlow"/>
                <a:ea typeface="Barlow"/>
                <a:cs typeface="Barlow"/>
                <a:sym typeface="Barlow"/>
              </a:rPr>
              <a:t>Do you have any questions?</a:t>
            </a:r>
            <a:endParaRPr b="0" i="0" sz="1600" u="none" cap="none" strike="noStrike">
              <a:solidFill>
                <a:srgbClr val="FFFFFF"/>
              </a:solidFill>
              <a:latin typeface="Noto Sans Symbols"/>
              <a:ea typeface="Noto Sans Symbols"/>
              <a:cs typeface="Noto Sans Symbols"/>
              <a:sym typeface="Noto Sans Symbols"/>
            </a:endParaRPr>
          </a:p>
          <a:p>
            <a:pPr indent="0" lvl="0" marL="0" marR="0" rtl="0" algn="ctr">
              <a:lnSpc>
                <a:spcPct val="100000"/>
              </a:lnSpc>
              <a:spcBef>
                <a:spcPts val="0"/>
              </a:spcBef>
              <a:spcAft>
                <a:spcPts val="0"/>
              </a:spcAft>
              <a:buClr>
                <a:schemeClr val="accent1"/>
              </a:buClr>
              <a:buSzPts val="1600"/>
              <a:buFont typeface="Barlow"/>
              <a:buNone/>
            </a:pPr>
            <a:r>
              <a:rPr lang="en-US" sz="1600">
                <a:solidFill>
                  <a:schemeClr val="accent1"/>
                </a:solidFill>
                <a:latin typeface="Barlow"/>
                <a:ea typeface="Barlow"/>
                <a:cs typeface="Barlow"/>
                <a:sym typeface="Barlow"/>
              </a:rPr>
              <a:t>srijia441</a:t>
            </a:r>
            <a:r>
              <a:rPr b="0" i="0" lang="en-US" sz="1600" u="none" cap="none" strike="noStrike">
                <a:solidFill>
                  <a:schemeClr val="accent1"/>
                </a:solidFill>
                <a:latin typeface="Barlow"/>
                <a:ea typeface="Barlow"/>
                <a:cs typeface="Barlow"/>
                <a:sym typeface="Barlow"/>
              </a:rPr>
              <a:t>l@</a:t>
            </a:r>
            <a:r>
              <a:rPr lang="en-US" sz="1600">
                <a:solidFill>
                  <a:schemeClr val="accent1"/>
                </a:solidFill>
                <a:latin typeface="Barlow"/>
                <a:ea typeface="Barlow"/>
                <a:cs typeface="Barlow"/>
                <a:sym typeface="Barlow"/>
              </a:rPr>
              <a:t>gmail</a:t>
            </a:r>
            <a:r>
              <a:rPr b="0" i="0" lang="en-US" sz="1600" u="none" cap="none" strike="noStrike">
                <a:solidFill>
                  <a:schemeClr val="accent1"/>
                </a:solidFill>
                <a:latin typeface="Barlow"/>
                <a:ea typeface="Barlow"/>
                <a:cs typeface="Barlow"/>
                <a:sym typeface="Barlow"/>
              </a:rPr>
              <a:t>.com</a:t>
            </a:r>
            <a:endParaRPr b="0" i="0" sz="1600" u="none" cap="none" strike="noStrike">
              <a:solidFill>
                <a:srgbClr val="FFFFFF"/>
              </a:solidFill>
              <a:latin typeface="Noto Sans Symbols"/>
              <a:ea typeface="Noto Sans Symbols"/>
              <a:cs typeface="Noto Sans Symbols"/>
              <a:sym typeface="Noto Sans Symbols"/>
            </a:endParaRPr>
          </a:p>
          <a:p>
            <a:pPr indent="0" lvl="0" marL="0" marR="0" rtl="0" algn="ctr">
              <a:lnSpc>
                <a:spcPct val="100000"/>
              </a:lnSpc>
              <a:spcBef>
                <a:spcPts val="0"/>
              </a:spcBef>
              <a:spcAft>
                <a:spcPts val="0"/>
              </a:spcAft>
              <a:buClr>
                <a:schemeClr val="accent1"/>
              </a:buClr>
              <a:buSzPts val="1600"/>
              <a:buFont typeface="Barlow"/>
              <a:buNone/>
            </a:pPr>
            <a:r>
              <a:rPr lang="en-US" sz="1600">
                <a:solidFill>
                  <a:schemeClr val="accent1"/>
                </a:solidFill>
                <a:latin typeface="Barlow"/>
                <a:ea typeface="Barlow"/>
                <a:cs typeface="Barlow"/>
                <a:sym typeface="Barlow"/>
              </a:rPr>
              <a:t>+91 97331 22140 </a:t>
            </a:r>
            <a:endParaRPr b="0" i="0" sz="1600" u="none" cap="none" strike="noStrike">
              <a:solidFill>
                <a:srgbClr val="FFFFFF"/>
              </a:solidFill>
              <a:latin typeface="Noto Sans Symbols"/>
              <a:ea typeface="Noto Sans Symbols"/>
              <a:cs typeface="Noto Sans Symbols"/>
              <a:sym typeface="Noto Sans Symbols"/>
            </a:endParaRPr>
          </a:p>
          <a:p>
            <a:pPr indent="0" lvl="0" marL="0" marR="0" rtl="0" algn="ctr">
              <a:lnSpc>
                <a:spcPct val="100000"/>
              </a:lnSpc>
              <a:spcBef>
                <a:spcPts val="0"/>
              </a:spcBef>
              <a:spcAft>
                <a:spcPts val="0"/>
              </a:spcAft>
              <a:buClr>
                <a:schemeClr val="accent1"/>
              </a:buClr>
              <a:buSzPts val="1600"/>
              <a:buFont typeface="Barlow"/>
              <a:buNone/>
            </a:pPr>
            <a:r>
              <a:t/>
            </a:r>
            <a:endParaRPr b="0" i="0" sz="1600" u="none" cap="none" strike="noStrike">
              <a:solidFill>
                <a:srgbClr val="FFFFFF"/>
              </a:solidFill>
              <a:latin typeface="Noto Sans Symbols"/>
              <a:ea typeface="Noto Sans Symbols"/>
              <a:cs typeface="Noto Sans Symbols"/>
              <a:sym typeface="Noto Sans Symbols"/>
            </a:endParaRPr>
          </a:p>
        </p:txBody>
      </p:sp>
      <p:sp>
        <p:nvSpPr>
          <p:cNvPr id="119" name="Google Shape;119;p15"/>
          <p:cNvSpPr/>
          <p:nvPr/>
        </p:nvSpPr>
        <p:spPr>
          <a:xfrm>
            <a:off x="2495520" y="4152960"/>
            <a:ext cx="4152600" cy="256680"/>
          </a:xfrm>
          <a:prstGeom prst="rect">
            <a:avLst/>
          </a:prstGeom>
          <a:noFill/>
          <a:ln>
            <a:noFill/>
          </a:ln>
        </p:spPr>
        <p:txBody>
          <a:bodyPr anchorCtr="0" anchor="t" bIns="0" lIns="870823075" spcFirstLastPara="1" rIns="870823075" wrap="square" tIns="0">
            <a:noAutofit/>
          </a:bodyPr>
          <a:lstStyle/>
          <a:p>
            <a:pPr indent="0" lvl="0" marL="0" marR="0" rtl="0" algn="ctr">
              <a:lnSpc>
                <a:spcPct val="100000"/>
              </a:lnSpc>
              <a:spcBef>
                <a:spcPts val="0"/>
              </a:spcBef>
              <a:spcAft>
                <a:spcPts val="0"/>
              </a:spcAft>
              <a:buNone/>
            </a:pPr>
            <a:r>
              <a:rPr b="0" i="0" lang="en-US" sz="1000" u="none" cap="none" strike="noStrike">
                <a:solidFill>
                  <a:schemeClr val="accent2"/>
                </a:solidFill>
                <a:latin typeface="Arial"/>
                <a:ea typeface="Arial"/>
                <a:cs typeface="Arial"/>
                <a:sym typeface="Arial"/>
              </a:rPr>
              <a:t>Please keep this slide for attribution</a:t>
            </a:r>
            <a:endParaRPr b="0" i="0" sz="1000" u="none" cap="none" strike="noStrike">
              <a:solidFill>
                <a:srgbClr val="FFFFFF"/>
              </a:solidFill>
              <a:latin typeface="Noto Sans Symbols"/>
              <a:ea typeface="Noto Sans Symbols"/>
              <a:cs typeface="Noto Sans Symbols"/>
              <a:sym typeface="Noto Sans Symbols"/>
            </a:endParaRPr>
          </a:p>
        </p:txBody>
      </p:sp>
      <p:cxnSp>
        <p:nvCxnSpPr>
          <p:cNvPr id="120" name="Google Shape;120;p15"/>
          <p:cNvCxnSpPr/>
          <p:nvPr/>
        </p:nvCxnSpPr>
        <p:spPr>
          <a:xfrm flipH="1">
            <a:off x="2620080" y="2006280"/>
            <a:ext cx="228960" cy="1257480"/>
          </a:xfrm>
          <a:prstGeom prst="straightConnector1">
            <a:avLst/>
          </a:prstGeom>
          <a:noFill/>
          <a:ln cap="flat" cmpd="sng" w="9525">
            <a:solidFill>
              <a:srgbClr val="FDFEFF"/>
            </a:solidFill>
            <a:prstDash val="solid"/>
            <a:round/>
            <a:headEnd len="sm" w="sm" type="none"/>
            <a:tailEnd len="sm" w="sm" type="none"/>
          </a:ln>
        </p:spPr>
      </p:cxnSp>
      <p:sp>
        <p:nvSpPr>
          <p:cNvPr id="121" name="Google Shape;121;p15"/>
          <p:cNvSpPr/>
          <p:nvPr/>
        </p:nvSpPr>
        <p:spPr>
          <a:xfrm>
            <a:off x="1966680" y="2178720"/>
            <a:ext cx="417600" cy="418320"/>
          </a:xfrm>
          <a:custGeom>
            <a:rect b="b" l="l" r="r" t="t"/>
            <a:pathLst>
              <a:path extrusionOk="0" h="10872" w="1086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22" name="Google Shape;122;p15"/>
          <p:cNvGrpSpPr/>
          <p:nvPr/>
        </p:nvGrpSpPr>
        <p:grpSpPr>
          <a:xfrm>
            <a:off x="6759000" y="2179080"/>
            <a:ext cx="418320" cy="417600"/>
            <a:chOff x="6759000" y="2179080"/>
            <a:chExt cx="418320" cy="417600"/>
          </a:xfrm>
        </p:grpSpPr>
        <p:sp>
          <p:nvSpPr>
            <p:cNvPr id="123" name="Google Shape;123;p15"/>
            <p:cNvSpPr/>
            <p:nvPr/>
          </p:nvSpPr>
          <p:spPr>
            <a:xfrm>
              <a:off x="6759000" y="2179080"/>
              <a:ext cx="418320" cy="417600"/>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4" name="Google Shape;124;p15"/>
            <p:cNvSpPr/>
            <p:nvPr/>
          </p:nvSpPr>
          <p:spPr>
            <a:xfrm>
              <a:off x="6837480" y="2257920"/>
              <a:ext cx="259920" cy="259920"/>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5" name="Google Shape;125;p15"/>
            <p:cNvSpPr/>
            <p:nvPr/>
          </p:nvSpPr>
          <p:spPr>
            <a:xfrm>
              <a:off x="6897960" y="2319840"/>
              <a:ext cx="138600" cy="136080"/>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2"/>
            </a:solidFill>
            <a:ln>
              <a:noFill/>
            </a:ln>
          </p:spPr>
          <p:txBody>
            <a:bodyPr anchorCtr="0" anchor="ctr" bIns="68025" lIns="91425" spcFirstLastPara="1" rIns="91425" wrap="square" tIns="68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6" name="Google Shape;126;p15"/>
            <p:cNvSpPr/>
            <p:nvPr/>
          </p:nvSpPr>
          <p:spPr>
            <a:xfrm>
              <a:off x="7020360" y="2291400"/>
              <a:ext cx="35280" cy="349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2"/>
            </a:solidFill>
            <a:ln>
              <a:noFill/>
            </a:ln>
          </p:spPr>
          <p:txBody>
            <a:bodyPr anchorCtr="0" anchor="ctr"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27" name="Google Shape;127;p15"/>
          <p:cNvGrpSpPr/>
          <p:nvPr/>
        </p:nvGrpSpPr>
        <p:grpSpPr>
          <a:xfrm>
            <a:off x="1966320" y="2685960"/>
            <a:ext cx="418320" cy="417600"/>
            <a:chOff x="1966320" y="2685960"/>
            <a:chExt cx="418320" cy="417600"/>
          </a:xfrm>
        </p:grpSpPr>
        <p:sp>
          <p:nvSpPr>
            <p:cNvPr id="128" name="Google Shape;128;p15"/>
            <p:cNvSpPr/>
            <p:nvPr/>
          </p:nvSpPr>
          <p:spPr>
            <a:xfrm>
              <a:off x="1966320" y="2685960"/>
              <a:ext cx="418320" cy="417600"/>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9" name="Google Shape;129;p15"/>
            <p:cNvSpPr/>
            <p:nvPr/>
          </p:nvSpPr>
          <p:spPr>
            <a:xfrm>
              <a:off x="2062800" y="2853360"/>
              <a:ext cx="57600" cy="1454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0" name="Google Shape;130;p15"/>
            <p:cNvSpPr/>
            <p:nvPr/>
          </p:nvSpPr>
          <p:spPr>
            <a:xfrm>
              <a:off x="2054160" y="2774160"/>
              <a:ext cx="66240" cy="66240"/>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a:noFill/>
            </a:ln>
          </p:spPr>
          <p:txBody>
            <a:bodyPr anchorCtr="0" anchor="ctr" bIns="33100" lIns="91425" spcFirstLastPara="1" rIns="91425" wrap="square" tIns="33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1" name="Google Shape;131;p15"/>
            <p:cNvSpPr/>
            <p:nvPr/>
          </p:nvSpPr>
          <p:spPr>
            <a:xfrm>
              <a:off x="2150640" y="2853360"/>
              <a:ext cx="154800" cy="1454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32" name="Google Shape;132;p15"/>
          <p:cNvGrpSpPr/>
          <p:nvPr/>
        </p:nvGrpSpPr>
        <p:grpSpPr>
          <a:xfrm>
            <a:off x="6759360" y="2685960"/>
            <a:ext cx="417600" cy="417600"/>
            <a:chOff x="6759360" y="2685960"/>
            <a:chExt cx="417600" cy="417600"/>
          </a:xfrm>
        </p:grpSpPr>
        <p:sp>
          <p:nvSpPr>
            <p:cNvPr id="133" name="Google Shape;133;p15"/>
            <p:cNvSpPr/>
            <p:nvPr/>
          </p:nvSpPr>
          <p:spPr>
            <a:xfrm>
              <a:off x="6759360" y="2685960"/>
              <a:ext cx="417600" cy="417600"/>
            </a:xfrm>
            <a:custGeom>
              <a:rect b="b" l="l" r="r" t="t"/>
              <a:pathLst>
                <a:path extrusionOk="0" h="10860" w="10859">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4" name="Google Shape;134;p15"/>
            <p:cNvSpPr/>
            <p:nvPr/>
          </p:nvSpPr>
          <p:spPr>
            <a:xfrm>
              <a:off x="6808680" y="2774160"/>
              <a:ext cx="317160" cy="241560"/>
            </a:xfrm>
            <a:custGeom>
              <a:rect b="b" l="l" r="r" t="t"/>
              <a:pathLst>
                <a:path extrusionOk="0" h="6285" w="8252">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5" name="Google Shape;135;p15"/>
            <p:cNvSpPr/>
            <p:nvPr/>
          </p:nvSpPr>
          <p:spPr>
            <a:xfrm>
              <a:off x="6917400" y="2828520"/>
              <a:ext cx="127080" cy="133200"/>
            </a:xfrm>
            <a:custGeom>
              <a:rect b="b" l="l" r="r" t="t"/>
              <a:pathLst>
                <a:path extrusionOk="0" h="3472" w="3311">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chemeClr val="accent2"/>
            </a:solidFill>
            <a:ln>
              <a:noFill/>
            </a:ln>
          </p:spPr>
          <p:txBody>
            <a:bodyPr anchorCtr="0" anchor="ctr" bIns="66600" lIns="91425" spcFirstLastPara="1" rIns="91425" wrap="square" tIns="66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cxnSp>
        <p:nvCxnSpPr>
          <p:cNvPr id="136" name="Google Shape;136;p15"/>
          <p:cNvCxnSpPr/>
          <p:nvPr/>
        </p:nvCxnSpPr>
        <p:spPr>
          <a:xfrm flipH="1">
            <a:off x="6294960" y="2012760"/>
            <a:ext cx="228960" cy="1257480"/>
          </a:xfrm>
          <a:prstGeom prst="straightConnector1">
            <a:avLst/>
          </a:prstGeom>
          <a:noFill/>
          <a:ln cap="flat" cmpd="sng" w="9525">
            <a:solidFill>
              <a:srgbClr val="FDFEFF"/>
            </a:solidFill>
            <a:prstDash val="solid"/>
            <a:round/>
            <a:headEnd len="sm" w="sm" type="none"/>
            <a:tailEnd len="sm" w="sm" type="none"/>
          </a:ln>
        </p:spPr>
      </p:cxnSp>
      <p:sp>
        <p:nvSpPr>
          <p:cNvPr id="137" name="Google Shape;137;p15"/>
          <p:cNvSpPr/>
          <p:nvPr/>
        </p:nvSpPr>
        <p:spPr>
          <a:xfrm>
            <a:off x="2114700" y="3533600"/>
            <a:ext cx="4844100" cy="61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5"/>
          <p:cNvSpPr txBox="1"/>
          <p:nvPr/>
        </p:nvSpPr>
        <p:spPr>
          <a:xfrm>
            <a:off x="3086275" y="3612350"/>
            <a:ext cx="608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Georgia"/>
                <a:ea typeface="Georgia"/>
                <a:cs typeface="Georgia"/>
                <a:sym typeface="Georgia"/>
              </a:rPr>
              <a:t>Presented by :</a:t>
            </a:r>
            <a:r>
              <a:rPr lang="en-US" sz="1800"/>
              <a:t> </a:t>
            </a:r>
            <a:r>
              <a:rPr b="1" lang="en-US" sz="1800">
                <a:latin typeface="Caveat"/>
                <a:ea typeface="Caveat"/>
                <a:cs typeface="Caveat"/>
                <a:sym typeface="Caveat"/>
              </a:rPr>
              <a:t>Rijia Sultana</a:t>
            </a:r>
            <a:endParaRPr b="1" sz="1800">
              <a:latin typeface="Caveat"/>
              <a:ea typeface="Caveat"/>
              <a:cs typeface="Caveat"/>
              <a:sym typeface="Caveat"/>
            </a:endParaRPr>
          </a:p>
        </p:txBody>
      </p:sp>
    </p:spTree>
  </p:cSld>
  <p:clrMapOvr>
    <a:masterClrMapping/>
  </p:clrMapOvr>
</p:sld>
</file>

<file path=ppt/theme/theme1.xml><?xml version="1.0" encoding="utf-8"?>
<a:theme xmlns:a="http://schemas.openxmlformats.org/drawingml/2006/main" xmlns:r="http://schemas.openxmlformats.org/officeDocument/2006/relationships" name="Blue Aesthetic Portfolio by Slidesgo">
  <a:themeElements>
    <a:clrScheme name="Simple Light">
      <a:dk1>
        <a:srgbClr val="263857"/>
      </a:dk1>
      <a:lt1>
        <a:srgbClr val="C2D8EC"/>
      </a:lt1>
      <a:dk2>
        <a:srgbClr val="4A6891"/>
      </a:dk2>
      <a:lt2>
        <a:srgbClr val="759FC7"/>
      </a:lt2>
      <a:accent1>
        <a:srgbClr val="E3ECF5"/>
      </a:accent1>
      <a:accent2>
        <a:srgbClr val="FDFEFF"/>
      </a:accent2>
      <a:accent3>
        <a:srgbClr val="FFFFFF"/>
      </a:accent3>
      <a:accent4>
        <a:srgbClr val="FFFFFF"/>
      </a:accent4>
      <a:accent5>
        <a:srgbClr val="FFFFFF"/>
      </a:accent5>
      <a:accent6>
        <a:srgbClr val="FFFFFF"/>
      </a:accent6>
      <a:hlink>
        <a:srgbClr val="2638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esthetic Portfolio by Slidesgo">
  <a:themeElements>
    <a:clrScheme name="Simple Light">
      <a:dk1>
        <a:srgbClr val="263857"/>
      </a:dk1>
      <a:lt1>
        <a:srgbClr val="C2D8EC"/>
      </a:lt1>
      <a:dk2>
        <a:srgbClr val="4A6891"/>
      </a:dk2>
      <a:lt2>
        <a:srgbClr val="759FC7"/>
      </a:lt2>
      <a:accent1>
        <a:srgbClr val="E3ECF5"/>
      </a:accent1>
      <a:accent2>
        <a:srgbClr val="FDFEFF"/>
      </a:accent2>
      <a:accent3>
        <a:srgbClr val="FFFFFF"/>
      </a:accent3>
      <a:accent4>
        <a:srgbClr val="FFFFFF"/>
      </a:accent4>
      <a:accent5>
        <a:srgbClr val="FFFFFF"/>
      </a:accent5>
      <a:accent6>
        <a:srgbClr val="FFFFFF"/>
      </a:accent6>
      <a:hlink>
        <a:srgbClr val="2638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ue Aesthetic Portfolio by Slidesgo">
  <a:themeElements>
    <a:clrScheme name="Simple Light">
      <a:dk1>
        <a:srgbClr val="263857"/>
      </a:dk1>
      <a:lt1>
        <a:srgbClr val="C2D8EC"/>
      </a:lt1>
      <a:dk2>
        <a:srgbClr val="4A6891"/>
      </a:dk2>
      <a:lt2>
        <a:srgbClr val="759FC7"/>
      </a:lt2>
      <a:accent1>
        <a:srgbClr val="E3ECF5"/>
      </a:accent1>
      <a:accent2>
        <a:srgbClr val="FDFEFF"/>
      </a:accent2>
      <a:accent3>
        <a:srgbClr val="FFFFFF"/>
      </a:accent3>
      <a:accent4>
        <a:srgbClr val="FFFFFF"/>
      </a:accent4>
      <a:accent5>
        <a:srgbClr val="FFFFFF"/>
      </a:accent5>
      <a:accent6>
        <a:srgbClr val="FFFFFF"/>
      </a:accent6>
      <a:hlink>
        <a:srgbClr val="2638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